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HK Grotesk" charset="1" panose="00000500000000000000"/>
      <p:regular r:id="rId22"/>
    </p:embeddedFont>
    <p:embeddedFont>
      <p:font typeface="Glacial Indifference Bold" charset="1" panose="00000800000000000000"/>
      <p:regular r:id="rId23"/>
    </p:embeddedFont>
    <p:embeddedFont>
      <p:font typeface="HK Grotesk Italics" charset="1" panose="00000500000000000000"/>
      <p:regular r:id="rId24"/>
    </p:embeddedFont>
    <p:embeddedFont>
      <p:font typeface="HK Grotesk Bold" charset="1" panose="00000800000000000000"/>
      <p:regular r:id="rId25"/>
    </p:embeddedFont>
    <p:embeddedFont>
      <p:font typeface="Glacial Indifference" charset="1" panose="000000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4650796" y="-2600966"/>
            <a:ext cx="9611327" cy="13560956"/>
          </a:xfrm>
          <a:custGeom>
            <a:avLst/>
            <a:gdLst/>
            <a:ahLst/>
            <a:cxnLst/>
            <a:rect r="r" b="b" t="t" l="l"/>
            <a:pathLst>
              <a:path h="13560956" w="9611327">
                <a:moveTo>
                  <a:pt x="0" y="0"/>
                </a:moveTo>
                <a:lnTo>
                  <a:pt x="9611327" y="0"/>
                </a:lnTo>
                <a:lnTo>
                  <a:pt x="9611327" y="13560956"/>
                </a:lnTo>
                <a:lnTo>
                  <a:pt x="0" y="13560956"/>
                </a:lnTo>
                <a:lnTo>
                  <a:pt x="0" y="0"/>
                </a:lnTo>
                <a:close/>
              </a:path>
            </a:pathLst>
          </a:custGeom>
          <a:blipFill>
            <a:blip r:embed="rId3"/>
            <a:stretch>
              <a:fillRect l="0" t="0" r="0" b="0"/>
            </a:stretch>
          </a:blipFill>
        </p:spPr>
      </p:sp>
      <p:sp>
        <p:nvSpPr>
          <p:cNvPr name="TextBox 4" id="4"/>
          <p:cNvSpPr txBox="true"/>
          <p:nvPr/>
        </p:nvSpPr>
        <p:spPr>
          <a:xfrm rot="0">
            <a:off x="2752839" y="5743803"/>
            <a:ext cx="13044596" cy="561058"/>
          </a:xfrm>
          <a:prstGeom prst="rect">
            <a:avLst/>
          </a:prstGeom>
        </p:spPr>
        <p:txBody>
          <a:bodyPr anchor="t" rtlCol="false" tIns="0" lIns="0" bIns="0" rIns="0">
            <a:spAutoFit/>
          </a:bodyPr>
          <a:lstStyle/>
          <a:p>
            <a:pPr algn="ctr">
              <a:lnSpc>
                <a:spcPts val="4570"/>
              </a:lnSpc>
            </a:pPr>
            <a:r>
              <a:rPr lang="en-US" sz="3264">
                <a:solidFill>
                  <a:srgbClr val="FFFFFF"/>
                </a:solidFill>
                <a:latin typeface="HK Grotesk"/>
                <a:ea typeface="HK Grotesk"/>
                <a:cs typeface="HK Grotesk"/>
                <a:sym typeface="HK Grotesk"/>
              </a:rPr>
              <a:t> Analyzing and Predicting Weather Patterns Using Data Science</a:t>
            </a:r>
          </a:p>
        </p:txBody>
      </p:sp>
      <p:sp>
        <p:nvSpPr>
          <p:cNvPr name="TextBox 5" id="5"/>
          <p:cNvSpPr txBox="true"/>
          <p:nvPr/>
        </p:nvSpPr>
        <p:spPr>
          <a:xfrm rot="0">
            <a:off x="3065298" y="1732226"/>
            <a:ext cx="12782323" cy="2879922"/>
          </a:xfrm>
          <a:prstGeom prst="rect">
            <a:avLst/>
          </a:prstGeom>
        </p:spPr>
        <p:txBody>
          <a:bodyPr anchor="t" rtlCol="false" tIns="0" lIns="0" bIns="0" rIns="0">
            <a:spAutoFit/>
          </a:bodyPr>
          <a:lstStyle/>
          <a:p>
            <a:pPr algn="ctr">
              <a:lnSpc>
                <a:spcPts val="11307"/>
              </a:lnSpc>
            </a:pPr>
            <a:r>
              <a:rPr lang="en-US" b="true" sz="10006">
                <a:solidFill>
                  <a:srgbClr val="FFFFFF"/>
                </a:solidFill>
                <a:latin typeface="Glacial Indifference Bold"/>
                <a:ea typeface="Glacial Indifference Bold"/>
                <a:cs typeface="Glacial Indifference Bold"/>
                <a:sym typeface="Glacial Indifference Bold"/>
              </a:rPr>
              <a:t>WE</a:t>
            </a:r>
            <a:r>
              <a:rPr lang="en-US" b="true" sz="10006">
                <a:solidFill>
                  <a:srgbClr val="FFFFFF"/>
                </a:solidFill>
                <a:latin typeface="Glacial Indifference Bold"/>
                <a:ea typeface="Glacial Indifference Bold"/>
                <a:cs typeface="Glacial Indifference Bold"/>
                <a:sym typeface="Glacial Indifference Bold"/>
              </a:rPr>
              <a:t>ATHER TREND FORECASTING</a:t>
            </a:r>
          </a:p>
        </p:txBody>
      </p:sp>
      <p:sp>
        <p:nvSpPr>
          <p:cNvPr name="TextBox 6" id="6"/>
          <p:cNvSpPr txBox="true"/>
          <p:nvPr/>
        </p:nvSpPr>
        <p:spPr>
          <a:xfrm rot="0">
            <a:off x="6716061" y="7869152"/>
            <a:ext cx="4855878" cy="1057308"/>
          </a:xfrm>
          <a:prstGeom prst="rect">
            <a:avLst/>
          </a:prstGeom>
        </p:spPr>
        <p:txBody>
          <a:bodyPr anchor="t" rtlCol="false" tIns="0" lIns="0" bIns="0" rIns="0">
            <a:spAutoFit/>
          </a:bodyPr>
          <a:lstStyle/>
          <a:p>
            <a:pPr algn="ctr">
              <a:lnSpc>
                <a:spcPts val="4200"/>
              </a:lnSpc>
            </a:pPr>
            <a:r>
              <a:rPr lang="en-US" sz="3000" i="true">
                <a:solidFill>
                  <a:srgbClr val="FFFFFF"/>
                </a:solidFill>
                <a:latin typeface="HK Grotesk Italics"/>
                <a:ea typeface="HK Grotesk Italics"/>
                <a:cs typeface="HK Grotesk Italics"/>
                <a:sym typeface="HK Grotesk Italics"/>
              </a:rPr>
              <a:t>Hemanth Yarra</a:t>
            </a:r>
          </a:p>
          <a:p>
            <a:pPr algn="ctr">
              <a:lnSpc>
                <a:spcPts val="4200"/>
              </a:lnSpc>
            </a:pPr>
            <a:r>
              <a:rPr lang="en-US" sz="3000" i="true">
                <a:solidFill>
                  <a:srgbClr val="FFFFFF"/>
                </a:solidFill>
                <a:latin typeface="HK Grotesk Italics"/>
                <a:ea typeface="HK Grotesk Italics"/>
                <a:cs typeface="HK Grotesk Italics"/>
                <a:sym typeface="HK Grotesk Italics"/>
              </a:rPr>
              <a:t>27th, March 2025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sp>
        <p:nvSpPr>
          <p:cNvPr name="Freeform 3" id="3"/>
          <p:cNvSpPr/>
          <p:nvPr/>
        </p:nvSpPr>
        <p:spPr>
          <a:xfrm flipH="false" flipV="false" rot="5400000">
            <a:off x="2113643" y="-2113643"/>
            <a:ext cx="10287000" cy="14514286"/>
          </a:xfrm>
          <a:custGeom>
            <a:avLst/>
            <a:gdLst/>
            <a:ahLst/>
            <a:cxnLst/>
            <a:rect r="r" b="b" t="t" l="l"/>
            <a:pathLst>
              <a:path h="14514286" w="10287000">
                <a:moveTo>
                  <a:pt x="0" y="0"/>
                </a:moveTo>
                <a:lnTo>
                  <a:pt x="10287000" y="0"/>
                </a:lnTo>
                <a:lnTo>
                  <a:pt x="10287000" y="14514286"/>
                </a:lnTo>
                <a:lnTo>
                  <a:pt x="0" y="14514286"/>
                </a:lnTo>
                <a:lnTo>
                  <a:pt x="0" y="0"/>
                </a:lnTo>
                <a:close/>
              </a:path>
            </a:pathLst>
          </a:custGeom>
          <a:blipFill>
            <a:blip r:embed="rId3"/>
            <a:stretch>
              <a:fillRect l="0" t="0" r="0" b="0"/>
            </a:stretch>
          </a:blipFill>
        </p:spPr>
      </p:sp>
      <p:grpSp>
        <p:nvGrpSpPr>
          <p:cNvPr name="Group 4" id="4"/>
          <p:cNvGrpSpPr>
            <a:grpSpLocks noChangeAspect="true"/>
          </p:cNvGrpSpPr>
          <p:nvPr/>
        </p:nvGrpSpPr>
        <p:grpSpPr>
          <a:xfrm rot="0">
            <a:off x="9814683" y="1028710"/>
            <a:ext cx="8229600" cy="8229600"/>
            <a:chOff x="0" y="0"/>
            <a:chExt cx="14840029" cy="14840029"/>
          </a:xfrm>
        </p:grpSpPr>
        <p:sp>
          <p:nvSpPr>
            <p:cNvPr name="Freeform 5" id="5"/>
            <p:cNvSpPr/>
            <p:nvPr/>
          </p:nvSpPr>
          <p:spPr>
            <a:xfrm flipH="false" flipV="false" rot="0">
              <a:off x="-366471" y="-11891"/>
              <a:ext cx="15572971" cy="14863810"/>
            </a:xfrm>
            <a:custGeom>
              <a:avLst/>
              <a:gdLst/>
              <a:ahLst/>
              <a:cxnLst/>
              <a:rect r="r" b="b" t="t" l="l"/>
              <a:pathLst>
                <a:path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769EBE"/>
            </a:solidFill>
          </p:spPr>
        </p:sp>
        <p:sp>
          <p:nvSpPr>
            <p:cNvPr name="Freeform 6" id="6"/>
            <p:cNvSpPr/>
            <p:nvPr/>
          </p:nvSpPr>
          <p:spPr>
            <a:xfrm flipH="false" flipV="false" rot="0">
              <a:off x="-156193" y="188812"/>
              <a:ext cx="15152415" cy="14462405"/>
            </a:xfrm>
            <a:custGeom>
              <a:avLst/>
              <a:gdLst/>
              <a:ahLst/>
              <a:cxnLst/>
              <a:rect r="r" b="b" t="t" l="l"/>
              <a:pathLst>
                <a:path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3A5677"/>
            </a:solidFill>
          </p:spPr>
        </p:sp>
        <p:sp>
          <p:nvSpPr>
            <p:cNvPr name="Freeform 7" id="7"/>
            <p:cNvSpPr/>
            <p:nvPr/>
          </p:nvSpPr>
          <p:spPr>
            <a:xfrm flipH="false" flipV="false" rot="0">
              <a:off x="223301" y="551024"/>
              <a:ext cx="14393427" cy="13737979"/>
            </a:xfrm>
            <a:custGeom>
              <a:avLst/>
              <a:gdLst/>
              <a:ahLst/>
              <a:cxnLst/>
              <a:rect r="r" b="b" t="t" l="l"/>
              <a:pathLst>
                <a:path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4"/>
              <a:stretch>
                <a:fillRect l="-24712" t="0" r="-24712" b="0"/>
              </a:stretch>
            </a:blipFill>
          </p:spPr>
        </p:sp>
      </p:grpSp>
      <p:sp>
        <p:nvSpPr>
          <p:cNvPr name="TextBox 8" id="8"/>
          <p:cNvSpPr txBox="true"/>
          <p:nvPr/>
        </p:nvSpPr>
        <p:spPr>
          <a:xfrm rot="0">
            <a:off x="523957" y="1066810"/>
            <a:ext cx="9603185" cy="1044340"/>
          </a:xfrm>
          <a:prstGeom prst="rect">
            <a:avLst/>
          </a:prstGeom>
        </p:spPr>
        <p:txBody>
          <a:bodyPr anchor="t" rtlCol="false" tIns="0" lIns="0" bIns="0" rIns="0">
            <a:spAutoFit/>
          </a:bodyPr>
          <a:lstStyle/>
          <a:p>
            <a:pPr algn="l">
              <a:lnSpc>
                <a:spcPts val="8039"/>
              </a:lnSpc>
            </a:pPr>
            <a:r>
              <a:rPr lang="en-US" b="true" sz="7114">
                <a:solidFill>
                  <a:srgbClr val="FFFFFF"/>
                </a:solidFill>
                <a:latin typeface="Glacial Indifference Bold"/>
                <a:ea typeface="Glacial Indifference Bold"/>
                <a:cs typeface="Glacial Indifference Bold"/>
                <a:sym typeface="Glacial Indifference Bold"/>
              </a:rPr>
              <a:t>ABOUT THE PROJECT</a:t>
            </a:r>
          </a:p>
        </p:txBody>
      </p:sp>
      <p:sp>
        <p:nvSpPr>
          <p:cNvPr name="TextBox 9" id="9"/>
          <p:cNvSpPr txBox="true"/>
          <p:nvPr/>
        </p:nvSpPr>
        <p:spPr>
          <a:xfrm rot="0">
            <a:off x="716240" y="3126325"/>
            <a:ext cx="8638913" cy="5140076"/>
          </a:xfrm>
          <a:prstGeom prst="rect">
            <a:avLst/>
          </a:prstGeom>
        </p:spPr>
        <p:txBody>
          <a:bodyPr anchor="t" rtlCol="false" tIns="0" lIns="0" bIns="0" rIns="0">
            <a:spAutoFit/>
          </a:bodyPr>
          <a:lstStyle/>
          <a:p>
            <a:pPr algn="l">
              <a:lnSpc>
                <a:spcPts val="4535"/>
              </a:lnSpc>
            </a:pPr>
            <a:r>
              <a:rPr lang="en-US" sz="3239">
                <a:solidFill>
                  <a:srgbClr val="FFFFFF"/>
                </a:solidFill>
                <a:latin typeface="HK Grotesk"/>
                <a:ea typeface="HK Grotesk"/>
                <a:cs typeface="HK Grotesk"/>
                <a:sym typeface="HK Grotesk"/>
              </a:rPr>
              <a:t>This project aligns with the mission of PM Accelerator, which aims to provide industry-leading tools and education to individuals from all backgrounds, leveling the playing field for future Product Management leaders. By granting aspiring and experienced PMs access to industry leaders, the right PM ecosystem, and AI product management skills, PM Accelerator fosters growth in the field</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true" rot="5400000">
            <a:off x="5887357" y="-2113643"/>
            <a:ext cx="10287000" cy="14514286"/>
          </a:xfrm>
          <a:custGeom>
            <a:avLst/>
            <a:gdLst/>
            <a:ahLst/>
            <a:cxnLst/>
            <a:rect r="r" b="b" t="t" l="l"/>
            <a:pathLst>
              <a:path h="14514286" w="10287000">
                <a:moveTo>
                  <a:pt x="0" y="14514286"/>
                </a:moveTo>
                <a:lnTo>
                  <a:pt x="10287000" y="14514286"/>
                </a:lnTo>
                <a:lnTo>
                  <a:pt x="10287000" y="0"/>
                </a:lnTo>
                <a:lnTo>
                  <a:pt x="0" y="0"/>
                </a:lnTo>
                <a:lnTo>
                  <a:pt x="0" y="14514286"/>
                </a:lnTo>
                <a:close/>
              </a:path>
            </a:pathLst>
          </a:custGeom>
          <a:blipFill>
            <a:blip r:embed="rId3"/>
            <a:stretch>
              <a:fillRect l="0" t="0" r="0" b="0"/>
            </a:stretch>
          </a:blipFill>
        </p:spPr>
      </p:sp>
      <p:sp>
        <p:nvSpPr>
          <p:cNvPr name="Freeform 4" id="4"/>
          <p:cNvSpPr/>
          <p:nvPr/>
        </p:nvSpPr>
        <p:spPr>
          <a:xfrm flipH="true" flipV="false" rot="0">
            <a:off x="505896" y="1028700"/>
            <a:ext cx="4956202" cy="8229600"/>
          </a:xfrm>
          <a:custGeom>
            <a:avLst/>
            <a:gdLst/>
            <a:ahLst/>
            <a:cxnLst/>
            <a:rect r="r" b="b" t="t" l="l"/>
            <a:pathLst>
              <a:path h="8229600" w="4956202">
                <a:moveTo>
                  <a:pt x="4956202" y="0"/>
                </a:moveTo>
                <a:lnTo>
                  <a:pt x="0" y="0"/>
                </a:lnTo>
                <a:lnTo>
                  <a:pt x="0" y="8229600"/>
                </a:lnTo>
                <a:lnTo>
                  <a:pt x="4956202" y="8229600"/>
                </a:lnTo>
                <a:lnTo>
                  <a:pt x="4956202" y="0"/>
                </a:lnTo>
                <a:close/>
              </a:path>
            </a:pathLst>
          </a:custGeom>
          <a:blipFill>
            <a:blip r:embed="rId4"/>
            <a:stretch>
              <a:fillRect l="0" t="0" r="0" b="0"/>
            </a:stretch>
          </a:blipFill>
        </p:spPr>
      </p:sp>
      <p:sp>
        <p:nvSpPr>
          <p:cNvPr name="TextBox 5" id="5"/>
          <p:cNvSpPr txBox="true"/>
          <p:nvPr/>
        </p:nvSpPr>
        <p:spPr>
          <a:xfrm rot="0">
            <a:off x="9962075" y="525580"/>
            <a:ext cx="6772678" cy="1044340"/>
          </a:xfrm>
          <a:prstGeom prst="rect">
            <a:avLst/>
          </a:prstGeom>
        </p:spPr>
        <p:txBody>
          <a:bodyPr anchor="t" rtlCol="false" tIns="0" lIns="0" bIns="0" rIns="0">
            <a:spAutoFit/>
          </a:bodyPr>
          <a:lstStyle/>
          <a:p>
            <a:pPr algn="r">
              <a:lnSpc>
                <a:spcPts val="8039"/>
              </a:lnSpc>
            </a:pPr>
            <a:r>
              <a:rPr lang="en-US" b="true" sz="7114">
                <a:solidFill>
                  <a:srgbClr val="FFFFFF"/>
                </a:solidFill>
                <a:latin typeface="Glacial Indifference Bold"/>
                <a:ea typeface="Glacial Indifference Bold"/>
                <a:cs typeface="Glacial Indifference Bold"/>
                <a:sym typeface="Glacial Indifference Bold"/>
              </a:rPr>
              <a:t>INTRODUCTION</a:t>
            </a:r>
          </a:p>
        </p:txBody>
      </p:sp>
      <p:sp>
        <p:nvSpPr>
          <p:cNvPr name="TextBox 6" id="6"/>
          <p:cNvSpPr txBox="true"/>
          <p:nvPr/>
        </p:nvSpPr>
        <p:spPr>
          <a:xfrm rot="0">
            <a:off x="6428005" y="6029192"/>
            <a:ext cx="10537767" cy="3190975"/>
          </a:xfrm>
          <a:prstGeom prst="rect">
            <a:avLst/>
          </a:prstGeom>
        </p:spPr>
        <p:txBody>
          <a:bodyPr anchor="t" rtlCol="false" tIns="0" lIns="0" bIns="0" rIns="0">
            <a:spAutoFit/>
          </a:bodyPr>
          <a:lstStyle/>
          <a:p>
            <a:pPr algn="just">
              <a:lnSpc>
                <a:spcPts val="4200"/>
              </a:lnSpc>
            </a:pPr>
            <a:r>
              <a:rPr lang="en-US" sz="3000">
                <a:solidFill>
                  <a:srgbClr val="FFFFFF"/>
                </a:solidFill>
                <a:latin typeface="HK Grotesk"/>
                <a:ea typeface="HK Grotesk"/>
                <a:cs typeface="HK Grotesk"/>
                <a:sym typeface="HK Grotesk"/>
              </a:rPr>
              <a:t>Objective:</a:t>
            </a:r>
          </a:p>
          <a:p>
            <a:pPr algn="just" marL="647702" indent="-323851" lvl="1">
              <a:lnSpc>
                <a:spcPts val="4200"/>
              </a:lnSpc>
              <a:buFont typeface="Arial"/>
              <a:buChar char="•"/>
            </a:pPr>
            <a:r>
              <a:rPr lang="en-US" sz="3000">
                <a:solidFill>
                  <a:srgbClr val="FFFFFF"/>
                </a:solidFill>
                <a:latin typeface="HK Grotesk"/>
                <a:ea typeface="HK Grotesk"/>
                <a:cs typeface="HK Grotesk"/>
                <a:sym typeface="HK Grotesk"/>
              </a:rPr>
              <a:t>Analyze historical weather data</a:t>
            </a:r>
          </a:p>
          <a:p>
            <a:pPr algn="just" marL="647702" indent="-323851" lvl="1">
              <a:lnSpc>
                <a:spcPts val="4200"/>
              </a:lnSpc>
              <a:buFont typeface="Arial"/>
              <a:buChar char="•"/>
            </a:pPr>
            <a:r>
              <a:rPr lang="en-US" sz="3000">
                <a:solidFill>
                  <a:srgbClr val="FFFFFF"/>
                </a:solidFill>
                <a:latin typeface="HK Grotesk"/>
                <a:ea typeface="HK Grotesk"/>
                <a:cs typeface="HK Grotesk"/>
                <a:sym typeface="HK Grotesk"/>
              </a:rPr>
              <a:t>Identify trends in temperature, precipitation, and other meteorological factors</a:t>
            </a:r>
          </a:p>
          <a:p>
            <a:pPr algn="just" marL="647702" indent="-323851" lvl="1">
              <a:lnSpc>
                <a:spcPts val="4200"/>
              </a:lnSpc>
              <a:buFont typeface="Arial"/>
              <a:buChar char="•"/>
            </a:pPr>
            <a:r>
              <a:rPr lang="en-US" sz="3000">
                <a:solidFill>
                  <a:srgbClr val="FFFFFF"/>
                </a:solidFill>
                <a:latin typeface="HK Grotesk"/>
                <a:ea typeface="HK Grotesk"/>
                <a:cs typeface="HK Grotesk"/>
                <a:sym typeface="HK Grotesk"/>
              </a:rPr>
              <a:t>Build a predictive model for future weather patterns</a:t>
            </a:r>
          </a:p>
          <a:p>
            <a:pPr algn="just">
              <a:lnSpc>
                <a:spcPts val="4200"/>
              </a:lnSpc>
            </a:pPr>
          </a:p>
        </p:txBody>
      </p:sp>
      <p:sp>
        <p:nvSpPr>
          <p:cNvPr name="TextBox 7" id="7"/>
          <p:cNvSpPr txBox="true"/>
          <p:nvPr/>
        </p:nvSpPr>
        <p:spPr>
          <a:xfrm rot="0">
            <a:off x="6428005" y="2877317"/>
            <a:ext cx="10989263" cy="2657558"/>
          </a:xfrm>
          <a:prstGeom prst="rect">
            <a:avLst/>
          </a:prstGeom>
        </p:spPr>
        <p:txBody>
          <a:bodyPr anchor="t" rtlCol="false" tIns="0" lIns="0" bIns="0" rIns="0">
            <a:spAutoFit/>
          </a:bodyPr>
          <a:lstStyle/>
          <a:p>
            <a:pPr algn="l">
              <a:lnSpc>
                <a:spcPts val="4200"/>
              </a:lnSpc>
            </a:pPr>
            <a:r>
              <a:rPr lang="en-US" sz="3000" i="true">
                <a:solidFill>
                  <a:srgbClr val="FFFFFF"/>
                </a:solidFill>
                <a:latin typeface="HK Grotesk Italics"/>
                <a:ea typeface="HK Grotesk Italics"/>
                <a:cs typeface="HK Grotesk Italics"/>
                <a:sym typeface="HK Grotesk Italics"/>
              </a:rPr>
              <a:t>Problem Statement:</a:t>
            </a:r>
          </a:p>
          <a:p>
            <a:pPr algn="l">
              <a:lnSpc>
                <a:spcPts val="4200"/>
              </a:lnSpc>
              <a:spcBef>
                <a:spcPct val="0"/>
              </a:spcBef>
            </a:pPr>
            <a:r>
              <a:rPr lang="en-US" sz="3000" i="true">
                <a:solidFill>
                  <a:srgbClr val="FFFFFF"/>
                </a:solidFill>
                <a:latin typeface="HK Grotesk Italics"/>
                <a:ea typeface="HK Grotesk Italics"/>
                <a:cs typeface="HK Grotesk Italics"/>
                <a:sym typeface="HK Grotesk Italics"/>
              </a:rPr>
              <a:t> Understanding hist</a:t>
            </a:r>
            <a:r>
              <a:rPr lang="en-US" sz="3000" i="true">
                <a:solidFill>
                  <a:srgbClr val="FFFFFF"/>
                </a:solidFill>
                <a:latin typeface="HK Grotesk Italics"/>
                <a:ea typeface="HK Grotesk Italics"/>
                <a:cs typeface="HK Grotesk Italics"/>
                <a:sym typeface="HK Grotesk Italics"/>
              </a:rPr>
              <a:t>orical weather trends and forecasting future climate patterns can help in decision-making across industries like agriculture, energy, and disaster management.</a:t>
            </a:r>
          </a:p>
          <a:p>
            <a:pPr algn="l">
              <a:lnSpc>
                <a:spcPts val="4200"/>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sp>
        <p:nvSpPr>
          <p:cNvPr name="Freeform 3" id="3"/>
          <p:cNvSpPr/>
          <p:nvPr/>
        </p:nvSpPr>
        <p:spPr>
          <a:xfrm flipH="false" flipV="false" rot="5400000">
            <a:off x="2113643" y="-2113643"/>
            <a:ext cx="10287000" cy="14514286"/>
          </a:xfrm>
          <a:custGeom>
            <a:avLst/>
            <a:gdLst/>
            <a:ahLst/>
            <a:cxnLst/>
            <a:rect r="r" b="b" t="t" l="l"/>
            <a:pathLst>
              <a:path h="14514286" w="10287000">
                <a:moveTo>
                  <a:pt x="0" y="0"/>
                </a:moveTo>
                <a:lnTo>
                  <a:pt x="10287000" y="0"/>
                </a:lnTo>
                <a:lnTo>
                  <a:pt x="10287000" y="14514286"/>
                </a:lnTo>
                <a:lnTo>
                  <a:pt x="0" y="14514286"/>
                </a:lnTo>
                <a:lnTo>
                  <a:pt x="0" y="0"/>
                </a:lnTo>
                <a:close/>
              </a:path>
            </a:pathLst>
          </a:custGeom>
          <a:blipFill>
            <a:blip r:embed="rId3"/>
            <a:stretch>
              <a:fillRect l="0" t="0" r="0" b="0"/>
            </a:stretch>
          </a:blipFill>
        </p:spPr>
      </p:sp>
      <p:sp>
        <p:nvSpPr>
          <p:cNvPr name="Freeform 4" id="4"/>
          <p:cNvSpPr/>
          <p:nvPr/>
        </p:nvSpPr>
        <p:spPr>
          <a:xfrm flipH="false" flipV="false" rot="0">
            <a:off x="9144000" y="1148690"/>
            <a:ext cx="8115300" cy="7989621"/>
          </a:xfrm>
          <a:custGeom>
            <a:avLst/>
            <a:gdLst/>
            <a:ahLst/>
            <a:cxnLst/>
            <a:rect r="r" b="b" t="t" l="l"/>
            <a:pathLst>
              <a:path h="7989621" w="8115300">
                <a:moveTo>
                  <a:pt x="0" y="0"/>
                </a:moveTo>
                <a:lnTo>
                  <a:pt x="8115300" y="0"/>
                </a:lnTo>
                <a:lnTo>
                  <a:pt x="8115300" y="7989620"/>
                </a:lnTo>
                <a:lnTo>
                  <a:pt x="0" y="7989620"/>
                </a:lnTo>
                <a:lnTo>
                  <a:pt x="0" y="0"/>
                </a:lnTo>
                <a:close/>
              </a:path>
            </a:pathLst>
          </a:custGeom>
          <a:blipFill>
            <a:blip r:embed="rId4"/>
            <a:stretch>
              <a:fillRect l="0" t="0" r="0" b="0"/>
            </a:stretch>
          </a:blipFill>
        </p:spPr>
      </p:sp>
      <p:sp>
        <p:nvSpPr>
          <p:cNvPr name="TextBox 5" id="5"/>
          <p:cNvSpPr txBox="true"/>
          <p:nvPr/>
        </p:nvSpPr>
        <p:spPr>
          <a:xfrm rot="0">
            <a:off x="792736" y="1066800"/>
            <a:ext cx="9555114" cy="1044340"/>
          </a:xfrm>
          <a:prstGeom prst="rect">
            <a:avLst/>
          </a:prstGeom>
        </p:spPr>
        <p:txBody>
          <a:bodyPr anchor="t" rtlCol="false" tIns="0" lIns="0" bIns="0" rIns="0">
            <a:spAutoFit/>
          </a:bodyPr>
          <a:lstStyle/>
          <a:p>
            <a:pPr algn="l">
              <a:lnSpc>
                <a:spcPts val="8039"/>
              </a:lnSpc>
            </a:pPr>
            <a:r>
              <a:rPr lang="en-US" b="true" sz="7114">
                <a:solidFill>
                  <a:srgbClr val="FFFFFF"/>
                </a:solidFill>
                <a:latin typeface="Glacial Indifference Bold"/>
                <a:ea typeface="Glacial Indifference Bold"/>
                <a:cs typeface="Glacial Indifference Bold"/>
                <a:sym typeface="Glacial Indifference Bold"/>
              </a:rPr>
              <a:t>DATASET OVERVIEW</a:t>
            </a:r>
          </a:p>
        </p:txBody>
      </p:sp>
      <p:sp>
        <p:nvSpPr>
          <p:cNvPr name="TextBox 6" id="6"/>
          <p:cNvSpPr txBox="true"/>
          <p:nvPr/>
        </p:nvSpPr>
        <p:spPr>
          <a:xfrm rot="0">
            <a:off x="250323" y="3435682"/>
            <a:ext cx="8711795" cy="4469880"/>
          </a:xfrm>
          <a:prstGeom prst="rect">
            <a:avLst/>
          </a:prstGeom>
        </p:spPr>
        <p:txBody>
          <a:bodyPr anchor="t" rtlCol="false" tIns="0" lIns="0" bIns="0" rIns="0">
            <a:spAutoFit/>
          </a:bodyPr>
          <a:lstStyle/>
          <a:p>
            <a:pPr algn="l" marL="683992" indent="-341996" lvl="1">
              <a:lnSpc>
                <a:spcPts val="4435"/>
              </a:lnSpc>
              <a:buFont typeface="Arial"/>
              <a:buChar char="•"/>
            </a:pPr>
            <a:r>
              <a:rPr lang="en-US" sz="3168">
                <a:solidFill>
                  <a:srgbClr val="FFFFFF"/>
                </a:solidFill>
                <a:latin typeface="HK Grotesk"/>
                <a:ea typeface="HK Grotesk"/>
                <a:cs typeface="HK Grotesk"/>
                <a:sym typeface="HK Grotesk"/>
              </a:rPr>
              <a:t>Dataset: Global Weather Repository</a:t>
            </a:r>
          </a:p>
          <a:p>
            <a:pPr algn="l">
              <a:lnSpc>
                <a:spcPts val="4435"/>
              </a:lnSpc>
            </a:pPr>
            <a:r>
              <a:rPr lang="en-US" sz="3168">
                <a:solidFill>
                  <a:srgbClr val="FFFFFF"/>
                </a:solidFill>
                <a:latin typeface="HK Grotesk"/>
                <a:ea typeface="HK Grotesk"/>
                <a:cs typeface="HK Grotesk"/>
                <a:sym typeface="HK Grotesk"/>
              </a:rPr>
              <a:t>   (Kaggle -  https://www.kaggle.com/datasets/nelgiriyewithana/global-weather-repository)</a:t>
            </a:r>
          </a:p>
          <a:p>
            <a:pPr algn="l" marL="683992" indent="-341996" lvl="1">
              <a:lnSpc>
                <a:spcPts val="4435"/>
              </a:lnSpc>
              <a:buFont typeface="Arial"/>
              <a:buChar char="•"/>
            </a:pPr>
            <a:r>
              <a:rPr lang="en-US" sz="3168">
                <a:solidFill>
                  <a:srgbClr val="FFFFFF"/>
                </a:solidFill>
                <a:latin typeface="HK Grotesk"/>
                <a:ea typeface="HK Grotesk"/>
                <a:cs typeface="HK Grotesk"/>
                <a:sym typeface="HK Grotesk"/>
              </a:rPr>
              <a:t>Data Includes:Temperature, Wind, Humidity, Air Quality</a:t>
            </a:r>
          </a:p>
          <a:p>
            <a:pPr algn="l" marL="683992" indent="-341996" lvl="1">
              <a:lnSpc>
                <a:spcPts val="4435"/>
              </a:lnSpc>
              <a:buFont typeface="Arial"/>
              <a:buChar char="•"/>
            </a:pPr>
            <a:r>
              <a:rPr lang="en-US" sz="3168">
                <a:solidFill>
                  <a:srgbClr val="FFFFFF"/>
                </a:solidFill>
                <a:latin typeface="HK Grotesk"/>
                <a:ea typeface="HK Grotesk"/>
                <a:cs typeface="HK Grotesk"/>
                <a:sym typeface="HK Grotesk"/>
              </a:rPr>
              <a:t>Moon Phases, Precipitation, Visibility</a:t>
            </a:r>
          </a:p>
          <a:p>
            <a:pPr algn="l" marL="683992" indent="-341996" lvl="1">
              <a:lnSpc>
                <a:spcPts val="4435"/>
              </a:lnSpc>
              <a:buFont typeface="Arial"/>
              <a:buChar char="•"/>
            </a:pPr>
            <a:r>
              <a:rPr lang="en-US" sz="3168">
                <a:solidFill>
                  <a:srgbClr val="FFFFFF"/>
                </a:solidFill>
                <a:latin typeface="HK Grotesk"/>
                <a:ea typeface="HK Grotesk"/>
                <a:cs typeface="HK Grotesk"/>
                <a:sym typeface="HK Grotesk"/>
              </a:rPr>
              <a:t>Objective: Forecast temperature trends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true" rot="5400000">
            <a:off x="5887357" y="-2113643"/>
            <a:ext cx="10287000" cy="14514286"/>
          </a:xfrm>
          <a:custGeom>
            <a:avLst/>
            <a:gdLst/>
            <a:ahLst/>
            <a:cxnLst/>
            <a:rect r="r" b="b" t="t" l="l"/>
            <a:pathLst>
              <a:path h="14514286" w="10287000">
                <a:moveTo>
                  <a:pt x="0" y="14514286"/>
                </a:moveTo>
                <a:lnTo>
                  <a:pt x="10287000" y="14514286"/>
                </a:lnTo>
                <a:lnTo>
                  <a:pt x="10287000" y="0"/>
                </a:lnTo>
                <a:lnTo>
                  <a:pt x="0" y="0"/>
                </a:lnTo>
                <a:lnTo>
                  <a:pt x="0" y="14514286"/>
                </a:lnTo>
                <a:close/>
              </a:path>
            </a:pathLst>
          </a:custGeom>
          <a:blipFill>
            <a:blip r:embed="rId3"/>
            <a:stretch>
              <a:fillRect l="0" t="0" r="0" b="0"/>
            </a:stretch>
          </a:blipFill>
        </p:spPr>
      </p:sp>
      <p:sp>
        <p:nvSpPr>
          <p:cNvPr name="Freeform 4" id="4"/>
          <p:cNvSpPr/>
          <p:nvPr/>
        </p:nvSpPr>
        <p:spPr>
          <a:xfrm flipH="false" flipV="false" rot="0">
            <a:off x="-436886" y="2376429"/>
            <a:ext cx="11660026" cy="7040496"/>
          </a:xfrm>
          <a:custGeom>
            <a:avLst/>
            <a:gdLst/>
            <a:ahLst/>
            <a:cxnLst/>
            <a:rect r="r" b="b" t="t" l="l"/>
            <a:pathLst>
              <a:path h="7040496" w="11660026">
                <a:moveTo>
                  <a:pt x="0" y="0"/>
                </a:moveTo>
                <a:lnTo>
                  <a:pt x="11660026" y="0"/>
                </a:lnTo>
                <a:lnTo>
                  <a:pt x="11660026" y="7040497"/>
                </a:lnTo>
                <a:lnTo>
                  <a:pt x="0" y="7040497"/>
                </a:lnTo>
                <a:lnTo>
                  <a:pt x="0" y="0"/>
                </a:lnTo>
                <a:close/>
              </a:path>
            </a:pathLst>
          </a:custGeom>
          <a:blipFill>
            <a:blip r:embed="rId4"/>
            <a:stretch>
              <a:fillRect l="0" t="0" r="-635" b="0"/>
            </a:stretch>
          </a:blipFill>
        </p:spPr>
      </p:sp>
      <p:sp>
        <p:nvSpPr>
          <p:cNvPr name="TextBox 5" id="5"/>
          <p:cNvSpPr txBox="true"/>
          <p:nvPr/>
        </p:nvSpPr>
        <p:spPr>
          <a:xfrm rot="0">
            <a:off x="3500969" y="525580"/>
            <a:ext cx="9921310" cy="1044340"/>
          </a:xfrm>
          <a:prstGeom prst="rect">
            <a:avLst/>
          </a:prstGeom>
        </p:spPr>
        <p:txBody>
          <a:bodyPr anchor="t" rtlCol="false" tIns="0" lIns="0" bIns="0" rIns="0">
            <a:spAutoFit/>
          </a:bodyPr>
          <a:lstStyle/>
          <a:p>
            <a:pPr algn="r">
              <a:lnSpc>
                <a:spcPts val="8039"/>
              </a:lnSpc>
            </a:pPr>
            <a:r>
              <a:rPr lang="en-US" b="true" sz="7114">
                <a:solidFill>
                  <a:srgbClr val="FFFFFF"/>
                </a:solidFill>
                <a:latin typeface="Glacial Indifference Bold"/>
                <a:ea typeface="Glacial Indifference Bold"/>
                <a:cs typeface="Glacial Indifference Bold"/>
                <a:sym typeface="Glacial Indifference Bold"/>
              </a:rPr>
              <a:t> </a:t>
            </a:r>
            <a:r>
              <a:rPr lang="en-US" b="true" sz="7114">
                <a:solidFill>
                  <a:srgbClr val="FFFFFF"/>
                </a:solidFill>
                <a:latin typeface="Glacial Indifference Bold"/>
                <a:ea typeface="Glacial Indifference Bold"/>
                <a:cs typeface="Glacial Indifference Bold"/>
                <a:sym typeface="Glacial Indifference Bold"/>
              </a:rPr>
              <a:t>Data </a:t>
            </a:r>
            <a:r>
              <a:rPr lang="en-US" b="true" sz="7114">
                <a:solidFill>
                  <a:srgbClr val="FFFFFF"/>
                </a:solidFill>
                <a:latin typeface="Glacial Indifference Bold"/>
                <a:ea typeface="Glacial Indifference Bold"/>
                <a:cs typeface="Glacial Indifference Bold"/>
                <a:sym typeface="Glacial Indifference Bold"/>
              </a:rPr>
              <a:t>PREPROCESSING</a:t>
            </a:r>
          </a:p>
        </p:txBody>
      </p:sp>
      <p:sp>
        <p:nvSpPr>
          <p:cNvPr name="TextBox 6" id="6"/>
          <p:cNvSpPr txBox="true"/>
          <p:nvPr/>
        </p:nvSpPr>
        <p:spPr>
          <a:xfrm rot="0">
            <a:off x="11030857" y="3476719"/>
            <a:ext cx="7077457" cy="4763718"/>
          </a:xfrm>
          <a:prstGeom prst="rect">
            <a:avLst/>
          </a:prstGeom>
        </p:spPr>
        <p:txBody>
          <a:bodyPr anchor="t" rtlCol="false" tIns="0" lIns="0" bIns="0" rIns="0">
            <a:spAutoFit/>
          </a:bodyPr>
          <a:lstStyle/>
          <a:p>
            <a:pPr algn="l" marL="830057" indent="-415028" lvl="1">
              <a:lnSpc>
                <a:spcPts val="5382"/>
              </a:lnSpc>
              <a:buFont typeface="Arial"/>
              <a:buChar char="•"/>
            </a:pPr>
            <a:r>
              <a:rPr lang="en-US" sz="3844">
                <a:solidFill>
                  <a:srgbClr val="FFFFFF"/>
                </a:solidFill>
                <a:latin typeface="HK Grotesk"/>
                <a:ea typeface="HK Grotesk"/>
                <a:cs typeface="HK Grotesk"/>
                <a:sym typeface="HK Grotesk"/>
              </a:rPr>
              <a:t>Checked for missing values (No missing values found)</a:t>
            </a:r>
          </a:p>
          <a:p>
            <a:pPr algn="l" marL="830057" indent="-415028" lvl="1">
              <a:lnSpc>
                <a:spcPts val="5382"/>
              </a:lnSpc>
              <a:buFont typeface="Arial"/>
              <a:buChar char="•"/>
            </a:pPr>
            <a:r>
              <a:rPr lang="en-US" sz="3844">
                <a:solidFill>
                  <a:srgbClr val="FFFFFF"/>
                </a:solidFill>
                <a:latin typeface="HK Grotesk"/>
                <a:ea typeface="HK Grotesk"/>
                <a:cs typeface="HK Grotesk"/>
                <a:sym typeface="HK Grotesk"/>
              </a:rPr>
              <a:t>Handled categorical variables using Label Encoding</a:t>
            </a:r>
          </a:p>
          <a:p>
            <a:pPr algn="l" marL="830057" indent="-415028" lvl="1">
              <a:lnSpc>
                <a:spcPts val="5382"/>
              </a:lnSpc>
              <a:buFont typeface="Arial"/>
              <a:buChar char="•"/>
            </a:pPr>
            <a:r>
              <a:rPr lang="en-US" sz="3844">
                <a:solidFill>
                  <a:srgbClr val="FFFFFF"/>
                </a:solidFill>
                <a:latin typeface="HK Grotesk"/>
                <a:ea typeface="HK Grotesk"/>
                <a:cs typeface="HK Grotesk"/>
                <a:sym typeface="HK Grotesk"/>
              </a:rPr>
              <a:t>Normalized numerical variables using MinMaxScaler</a:t>
            </a:r>
          </a:p>
          <a:p>
            <a:pPr algn="l">
              <a:lnSpc>
                <a:spcPts val="5382"/>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sp>
        <p:nvSpPr>
          <p:cNvPr name="Freeform 3" id="3"/>
          <p:cNvSpPr/>
          <p:nvPr/>
        </p:nvSpPr>
        <p:spPr>
          <a:xfrm flipH="false" flipV="false" rot="0">
            <a:off x="631637" y="-450964"/>
            <a:ext cx="17024727" cy="10737964"/>
          </a:xfrm>
          <a:custGeom>
            <a:avLst/>
            <a:gdLst/>
            <a:ahLst/>
            <a:cxnLst/>
            <a:rect r="r" b="b" t="t" l="l"/>
            <a:pathLst>
              <a:path h="10737964" w="17024727">
                <a:moveTo>
                  <a:pt x="0" y="0"/>
                </a:moveTo>
                <a:lnTo>
                  <a:pt x="17024726" y="0"/>
                </a:lnTo>
                <a:lnTo>
                  <a:pt x="17024726" y="10737964"/>
                </a:lnTo>
                <a:lnTo>
                  <a:pt x="0" y="10737964"/>
                </a:lnTo>
                <a:lnTo>
                  <a:pt x="0" y="0"/>
                </a:lnTo>
                <a:close/>
              </a:path>
            </a:pathLst>
          </a:custGeom>
          <a:blipFill>
            <a:blip r:embed="rId3"/>
            <a:stretch>
              <a:fillRect l="0" t="-123699" r="0" b="0"/>
            </a:stretch>
          </a:blipFill>
        </p:spPr>
      </p:sp>
      <p:sp>
        <p:nvSpPr>
          <p:cNvPr name="TextBox 4" id="4"/>
          <p:cNvSpPr txBox="true"/>
          <p:nvPr/>
        </p:nvSpPr>
        <p:spPr>
          <a:xfrm rot="0">
            <a:off x="631637" y="2373386"/>
            <a:ext cx="20054282" cy="6682313"/>
          </a:xfrm>
          <a:prstGeom prst="rect">
            <a:avLst/>
          </a:prstGeom>
        </p:spPr>
        <p:txBody>
          <a:bodyPr anchor="t" rtlCol="false" tIns="0" lIns="0" bIns="0" rIns="0">
            <a:spAutoFit/>
          </a:bodyPr>
          <a:lstStyle/>
          <a:p>
            <a:pPr algn="l" marL="915613" indent="-457806" lvl="1">
              <a:lnSpc>
                <a:spcPts val="5937"/>
              </a:lnSpc>
              <a:buFont typeface="Arial"/>
              <a:buChar char="•"/>
            </a:pPr>
            <a:r>
              <a:rPr lang="en-US" sz="4240">
                <a:solidFill>
                  <a:srgbClr val="FFFFFF"/>
                </a:solidFill>
                <a:latin typeface="HK Grotesk"/>
                <a:ea typeface="HK Grotesk"/>
                <a:cs typeface="HK Grotesk"/>
                <a:sym typeface="HK Grotesk"/>
              </a:rPr>
              <a:t>Visualizations:</a:t>
            </a:r>
          </a:p>
          <a:p>
            <a:pPr algn="l" marL="1831225" indent="-610408" lvl="2">
              <a:lnSpc>
                <a:spcPts val="5937"/>
              </a:lnSpc>
              <a:buFont typeface="Arial"/>
              <a:buChar char="⚬"/>
            </a:pPr>
            <a:r>
              <a:rPr lang="en-US" sz="4240">
                <a:solidFill>
                  <a:srgbClr val="FFFFFF"/>
                </a:solidFill>
                <a:latin typeface="HK Grotesk"/>
                <a:ea typeface="HK Grotesk"/>
                <a:cs typeface="HK Grotesk"/>
                <a:sym typeface="HK Grotesk"/>
              </a:rPr>
              <a:t>Boxplots for temperature distribution</a:t>
            </a:r>
          </a:p>
          <a:p>
            <a:pPr algn="l" marL="1831225" indent="-610408" lvl="2">
              <a:lnSpc>
                <a:spcPts val="5937"/>
              </a:lnSpc>
              <a:buFont typeface="Arial"/>
              <a:buChar char="⚬"/>
            </a:pPr>
            <a:r>
              <a:rPr lang="en-US" sz="4240">
                <a:solidFill>
                  <a:srgbClr val="FFFFFF"/>
                </a:solidFill>
                <a:latin typeface="HK Grotesk"/>
                <a:ea typeface="HK Grotesk"/>
                <a:cs typeface="HK Grotesk"/>
                <a:sym typeface="HK Grotesk"/>
              </a:rPr>
              <a:t>Histograms for precipitation and humidity</a:t>
            </a:r>
          </a:p>
          <a:p>
            <a:pPr algn="l" marL="1831225" indent="-610408" lvl="2">
              <a:lnSpc>
                <a:spcPts val="5937"/>
              </a:lnSpc>
              <a:buFont typeface="Arial"/>
              <a:buChar char="⚬"/>
            </a:pPr>
            <a:r>
              <a:rPr lang="en-US" sz="4240">
                <a:solidFill>
                  <a:srgbClr val="FFFFFF"/>
                </a:solidFill>
                <a:latin typeface="HK Grotesk"/>
                <a:ea typeface="HK Grotesk"/>
                <a:cs typeface="HK Grotesk"/>
                <a:sym typeface="HK Grotesk"/>
              </a:rPr>
              <a:t>Correlation heatmap</a:t>
            </a:r>
          </a:p>
          <a:p>
            <a:pPr algn="l" marL="915613" indent="-457806" lvl="1">
              <a:lnSpc>
                <a:spcPts val="5937"/>
              </a:lnSpc>
              <a:buFont typeface="Arial"/>
              <a:buChar char="•"/>
            </a:pPr>
            <a:r>
              <a:rPr lang="en-US" sz="4240">
                <a:solidFill>
                  <a:srgbClr val="FFFFFF"/>
                </a:solidFill>
                <a:latin typeface="HK Grotesk"/>
                <a:ea typeface="HK Grotesk"/>
                <a:cs typeface="HK Grotesk"/>
                <a:sym typeface="HK Grotesk"/>
              </a:rPr>
              <a:t>Findings:</a:t>
            </a:r>
          </a:p>
          <a:p>
            <a:pPr algn="l" marL="1831225" indent="-610408" lvl="2">
              <a:lnSpc>
                <a:spcPts val="5937"/>
              </a:lnSpc>
              <a:buFont typeface="Arial"/>
              <a:buChar char="⚬"/>
            </a:pPr>
            <a:r>
              <a:rPr lang="en-US" sz="4240">
                <a:solidFill>
                  <a:srgbClr val="FFFFFF"/>
                </a:solidFill>
                <a:latin typeface="HK Grotesk"/>
                <a:ea typeface="HK Grotesk"/>
                <a:cs typeface="HK Grotesk"/>
                <a:sym typeface="HK Grotesk"/>
              </a:rPr>
              <a:t>Temperature correlates with precipitation                                                        and humidity</a:t>
            </a:r>
          </a:p>
          <a:p>
            <a:pPr algn="l" marL="1831225" indent="-610408" lvl="2">
              <a:lnSpc>
                <a:spcPts val="5937"/>
              </a:lnSpc>
              <a:buFont typeface="Arial"/>
              <a:buChar char="⚬"/>
            </a:pPr>
            <a:r>
              <a:rPr lang="en-US" sz="4240">
                <a:solidFill>
                  <a:srgbClr val="FFFFFF"/>
                </a:solidFill>
                <a:latin typeface="HK Grotesk"/>
                <a:ea typeface="HK Grotesk"/>
                <a:cs typeface="HK Grotesk"/>
                <a:sym typeface="HK Grotesk"/>
              </a:rPr>
              <a:t>No significant outliers</a:t>
            </a:r>
          </a:p>
          <a:p>
            <a:pPr algn="l">
              <a:lnSpc>
                <a:spcPts val="5937"/>
              </a:lnSpc>
            </a:pPr>
          </a:p>
        </p:txBody>
      </p:sp>
      <p:sp>
        <p:nvSpPr>
          <p:cNvPr name="TextBox 5" id="5"/>
          <p:cNvSpPr txBox="true"/>
          <p:nvPr/>
        </p:nvSpPr>
        <p:spPr>
          <a:xfrm rot="0">
            <a:off x="-778384" y="296818"/>
            <a:ext cx="19468215" cy="1338819"/>
          </a:xfrm>
          <a:prstGeom prst="rect">
            <a:avLst/>
          </a:prstGeom>
        </p:spPr>
        <p:txBody>
          <a:bodyPr anchor="t" rtlCol="false" tIns="0" lIns="0" bIns="0" rIns="0">
            <a:spAutoFit/>
          </a:bodyPr>
          <a:lstStyle/>
          <a:p>
            <a:pPr algn="ctr">
              <a:lnSpc>
                <a:spcPts val="10366"/>
              </a:lnSpc>
            </a:pPr>
            <a:r>
              <a:rPr lang="en-US" b="true" sz="9173">
                <a:solidFill>
                  <a:srgbClr val="FFFFFF"/>
                </a:solidFill>
                <a:latin typeface="Glacial Indifference Bold"/>
                <a:ea typeface="Glacial Indifference Bold"/>
                <a:cs typeface="Glacial Indifference Bold"/>
                <a:sym typeface="Glacial Indifference Bold"/>
              </a:rPr>
              <a:t>EXPLORATORY DATA ANALYSIS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208922"/>
            <a:ext cx="18098755" cy="9049378"/>
          </a:xfrm>
          <a:custGeom>
            <a:avLst/>
            <a:gdLst/>
            <a:ahLst/>
            <a:cxnLst/>
            <a:rect r="r" b="b" t="t" l="l"/>
            <a:pathLst>
              <a:path h="9049378" w="18098755">
                <a:moveTo>
                  <a:pt x="0" y="0"/>
                </a:moveTo>
                <a:lnTo>
                  <a:pt x="18098755" y="0"/>
                </a:lnTo>
                <a:lnTo>
                  <a:pt x="18098755" y="9049378"/>
                </a:lnTo>
                <a:lnTo>
                  <a:pt x="0" y="9049378"/>
                </a:lnTo>
                <a:lnTo>
                  <a:pt x="0" y="0"/>
                </a:lnTo>
                <a:close/>
              </a:path>
            </a:pathLst>
          </a:custGeom>
          <a:blipFill>
            <a:blip r:embed="rId2"/>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682634" y="-137325"/>
            <a:ext cx="13436824" cy="10424325"/>
          </a:xfrm>
          <a:custGeom>
            <a:avLst/>
            <a:gdLst/>
            <a:ahLst/>
            <a:cxnLst/>
            <a:rect r="r" b="b" t="t" l="l"/>
            <a:pathLst>
              <a:path h="10424325" w="13436824">
                <a:moveTo>
                  <a:pt x="0" y="0"/>
                </a:moveTo>
                <a:lnTo>
                  <a:pt x="13436824" y="0"/>
                </a:lnTo>
                <a:lnTo>
                  <a:pt x="13436824" y="10424325"/>
                </a:lnTo>
                <a:lnTo>
                  <a:pt x="0" y="10424325"/>
                </a:lnTo>
                <a:lnTo>
                  <a:pt x="0" y="0"/>
                </a:lnTo>
                <a:close/>
              </a:path>
            </a:pathLst>
          </a:custGeom>
          <a:blipFill>
            <a:blip r:embed="rId3"/>
            <a:stretch>
              <a:fillRect l="-65" t="-677" r="-4075"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sp>
        <p:nvSpPr>
          <p:cNvPr name="Freeform 3" id="3"/>
          <p:cNvSpPr/>
          <p:nvPr/>
        </p:nvSpPr>
        <p:spPr>
          <a:xfrm flipH="false" flipV="false" rot="5400000">
            <a:off x="2113643" y="-2113643"/>
            <a:ext cx="10287000" cy="14514286"/>
          </a:xfrm>
          <a:custGeom>
            <a:avLst/>
            <a:gdLst/>
            <a:ahLst/>
            <a:cxnLst/>
            <a:rect r="r" b="b" t="t" l="l"/>
            <a:pathLst>
              <a:path h="14514286" w="10287000">
                <a:moveTo>
                  <a:pt x="0" y="0"/>
                </a:moveTo>
                <a:lnTo>
                  <a:pt x="10287000" y="0"/>
                </a:lnTo>
                <a:lnTo>
                  <a:pt x="10287000" y="14514286"/>
                </a:lnTo>
                <a:lnTo>
                  <a:pt x="0" y="14514286"/>
                </a:lnTo>
                <a:lnTo>
                  <a:pt x="0" y="0"/>
                </a:lnTo>
                <a:close/>
              </a:path>
            </a:pathLst>
          </a:custGeom>
          <a:blipFill>
            <a:blip r:embed="rId3"/>
            <a:stretch>
              <a:fillRect l="0" t="0" r="0" b="0"/>
            </a:stretch>
          </a:blipFill>
        </p:spPr>
      </p:sp>
      <p:sp>
        <p:nvSpPr>
          <p:cNvPr name="TextBox 4" id="4"/>
          <p:cNvSpPr txBox="true"/>
          <p:nvPr/>
        </p:nvSpPr>
        <p:spPr>
          <a:xfrm rot="0">
            <a:off x="499922" y="1651257"/>
            <a:ext cx="12584795" cy="6988093"/>
          </a:xfrm>
          <a:prstGeom prst="rect">
            <a:avLst/>
          </a:prstGeom>
        </p:spPr>
        <p:txBody>
          <a:bodyPr anchor="t" rtlCol="false" tIns="0" lIns="0" bIns="0" rIns="0">
            <a:spAutoFit/>
          </a:bodyPr>
          <a:lstStyle/>
          <a:p>
            <a:pPr algn="l">
              <a:lnSpc>
                <a:spcPts val="6936"/>
              </a:lnSpc>
            </a:pPr>
            <a:r>
              <a:rPr lang="en-US" sz="4954">
                <a:solidFill>
                  <a:srgbClr val="FFFFFF"/>
                </a:solidFill>
                <a:latin typeface="HK Grotesk"/>
                <a:ea typeface="HK Grotesk"/>
                <a:cs typeface="HK Grotesk"/>
                <a:sym typeface="HK Grotesk"/>
              </a:rPr>
              <a:t>Time Series Analysis</a:t>
            </a:r>
          </a:p>
          <a:p>
            <a:pPr algn="l" marL="1069740" indent="-534870" lvl="1">
              <a:lnSpc>
                <a:spcPts val="6936"/>
              </a:lnSpc>
              <a:buFont typeface="Arial"/>
              <a:buChar char="•"/>
            </a:pPr>
            <a:r>
              <a:rPr lang="en-US" sz="4954">
                <a:solidFill>
                  <a:srgbClr val="FFFFFF"/>
                </a:solidFill>
                <a:latin typeface="HK Grotesk"/>
                <a:ea typeface="HK Grotesk"/>
                <a:cs typeface="HK Grotesk"/>
                <a:sym typeface="HK Grotesk"/>
              </a:rPr>
              <a:t>Converted ‘last_updated’ to DateTime format</a:t>
            </a:r>
          </a:p>
          <a:p>
            <a:pPr algn="l" marL="1069740" indent="-534870" lvl="1">
              <a:lnSpc>
                <a:spcPts val="6936"/>
              </a:lnSpc>
              <a:buFont typeface="Arial"/>
              <a:buChar char="•"/>
            </a:pPr>
            <a:r>
              <a:rPr lang="en-US" sz="4954">
                <a:solidFill>
                  <a:srgbClr val="FFFFFF"/>
                </a:solidFill>
                <a:latin typeface="HK Grotesk"/>
                <a:ea typeface="HK Grotesk"/>
                <a:cs typeface="HK Grotesk"/>
                <a:sym typeface="HK Grotesk"/>
              </a:rPr>
              <a:t>Plotted Temperature Over Time</a:t>
            </a:r>
          </a:p>
          <a:p>
            <a:pPr algn="l" marL="1069740" indent="-534870" lvl="1">
              <a:lnSpc>
                <a:spcPts val="6936"/>
              </a:lnSpc>
              <a:buFont typeface="Arial"/>
              <a:buChar char="•"/>
            </a:pPr>
            <a:r>
              <a:rPr lang="en-US" sz="4954">
                <a:solidFill>
                  <a:srgbClr val="FFFFFF"/>
                </a:solidFill>
                <a:latin typeface="HK Grotesk"/>
                <a:ea typeface="HK Grotesk"/>
                <a:cs typeface="HK Grotesk"/>
                <a:sym typeface="HK Grotesk"/>
              </a:rPr>
              <a:t>Conducted ADF Test for stationarity</a:t>
            </a:r>
          </a:p>
          <a:p>
            <a:pPr algn="l" marL="2139481" indent="-713160" lvl="2">
              <a:lnSpc>
                <a:spcPts val="6936"/>
              </a:lnSpc>
              <a:buFont typeface="Arial"/>
              <a:buChar char="⚬"/>
            </a:pPr>
            <a:r>
              <a:rPr lang="en-US" sz="4954">
                <a:solidFill>
                  <a:srgbClr val="FFFFFF"/>
                </a:solidFill>
                <a:latin typeface="HK Grotesk"/>
                <a:ea typeface="HK Grotesk"/>
                <a:cs typeface="HK Grotesk"/>
                <a:sym typeface="HK Grotesk"/>
              </a:rPr>
              <a:t>Result: p-value = 0.276</a:t>
            </a:r>
          </a:p>
          <a:p>
            <a:pPr algn="l" marL="1069740" indent="-534870" lvl="1">
              <a:lnSpc>
                <a:spcPts val="6936"/>
              </a:lnSpc>
              <a:buFont typeface="Arial"/>
              <a:buChar char="•"/>
            </a:pPr>
            <a:r>
              <a:rPr lang="en-US" sz="4954">
                <a:solidFill>
                  <a:srgbClr val="FFFFFF"/>
                </a:solidFill>
                <a:latin typeface="HK Grotesk"/>
                <a:ea typeface="HK Grotesk"/>
                <a:cs typeface="HK Grotesk"/>
                <a:sym typeface="HK Grotesk"/>
              </a:rPr>
              <a:t>Data needed differencing</a:t>
            </a:r>
          </a:p>
          <a:p>
            <a:pPr algn="l">
              <a:lnSpc>
                <a:spcPts val="6936"/>
              </a:lnSpc>
            </a:pPr>
          </a:p>
        </p:txBody>
      </p:sp>
      <p:sp>
        <p:nvSpPr>
          <p:cNvPr name="Freeform 5" id="5"/>
          <p:cNvSpPr/>
          <p:nvPr/>
        </p:nvSpPr>
        <p:spPr>
          <a:xfrm flipH="false" flipV="false" rot="0">
            <a:off x="12172555" y="902252"/>
            <a:ext cx="5657850" cy="8229600"/>
          </a:xfrm>
          <a:custGeom>
            <a:avLst/>
            <a:gdLst/>
            <a:ahLst/>
            <a:cxnLst/>
            <a:rect r="r" b="b" t="t" l="l"/>
            <a:pathLst>
              <a:path h="8229600" w="5657850">
                <a:moveTo>
                  <a:pt x="0" y="0"/>
                </a:moveTo>
                <a:lnTo>
                  <a:pt x="5657850" y="0"/>
                </a:lnTo>
                <a:lnTo>
                  <a:pt x="5657850" y="8229600"/>
                </a:lnTo>
                <a:lnTo>
                  <a:pt x="0" y="8229600"/>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3933076"/>
            <a:ext cx="18508535" cy="6610191"/>
          </a:xfrm>
          <a:custGeom>
            <a:avLst/>
            <a:gdLst/>
            <a:ahLst/>
            <a:cxnLst/>
            <a:rect r="r" b="b" t="t" l="l"/>
            <a:pathLst>
              <a:path h="6610191" w="18508535">
                <a:moveTo>
                  <a:pt x="0" y="0"/>
                </a:moveTo>
                <a:lnTo>
                  <a:pt x="18508535" y="0"/>
                </a:lnTo>
                <a:lnTo>
                  <a:pt x="18508535" y="6610191"/>
                </a:lnTo>
                <a:lnTo>
                  <a:pt x="0" y="6610191"/>
                </a:lnTo>
                <a:lnTo>
                  <a:pt x="0" y="0"/>
                </a:lnTo>
                <a:close/>
              </a:path>
            </a:pathLst>
          </a:custGeom>
          <a:blipFill>
            <a:blip r:embed="rId3"/>
            <a:stretch>
              <a:fillRect l="0" t="0" r="0" b="0"/>
            </a:stretch>
          </a:blipFill>
        </p:spPr>
      </p:sp>
      <p:sp>
        <p:nvSpPr>
          <p:cNvPr name="TextBox 4" id="4"/>
          <p:cNvSpPr txBox="true"/>
          <p:nvPr/>
        </p:nvSpPr>
        <p:spPr>
          <a:xfrm rot="0">
            <a:off x="-426934" y="272475"/>
            <a:ext cx="17037280" cy="1045178"/>
          </a:xfrm>
          <a:prstGeom prst="rect">
            <a:avLst/>
          </a:prstGeom>
        </p:spPr>
        <p:txBody>
          <a:bodyPr anchor="t" rtlCol="false" tIns="0" lIns="0" bIns="0" rIns="0">
            <a:spAutoFit/>
          </a:bodyPr>
          <a:lstStyle/>
          <a:p>
            <a:pPr algn="r">
              <a:lnSpc>
                <a:spcPts val="8140"/>
              </a:lnSpc>
            </a:pPr>
            <a:r>
              <a:rPr lang="en-US" b="true" sz="7204">
                <a:solidFill>
                  <a:srgbClr val="FFFFFF"/>
                </a:solidFill>
                <a:latin typeface="Glacial Indifference Bold"/>
                <a:ea typeface="Glacial Indifference Bold"/>
                <a:cs typeface="Glacial Indifference Bold"/>
                <a:sym typeface="Glacial Indifference Bold"/>
              </a:rPr>
              <a:t>SARIMA M</a:t>
            </a:r>
            <a:r>
              <a:rPr lang="en-US" b="true" sz="7204">
                <a:solidFill>
                  <a:srgbClr val="FFFFFF"/>
                </a:solidFill>
                <a:latin typeface="Glacial Indifference Bold"/>
                <a:ea typeface="Glacial Indifference Bold"/>
                <a:cs typeface="Glacial Indifference Bold"/>
                <a:sym typeface="Glacial Indifference Bold"/>
              </a:rPr>
              <a:t>ODEL FOR FORECASTING</a:t>
            </a:r>
          </a:p>
        </p:txBody>
      </p:sp>
      <p:sp>
        <p:nvSpPr>
          <p:cNvPr name="TextBox 5" id="5"/>
          <p:cNvSpPr txBox="true"/>
          <p:nvPr/>
        </p:nvSpPr>
        <p:spPr>
          <a:xfrm rot="0">
            <a:off x="2470821" y="1621033"/>
            <a:ext cx="15494196" cy="2739486"/>
          </a:xfrm>
          <a:prstGeom prst="rect">
            <a:avLst/>
          </a:prstGeom>
        </p:spPr>
        <p:txBody>
          <a:bodyPr anchor="t" rtlCol="false" tIns="0" lIns="0" bIns="0" rIns="0">
            <a:spAutoFit/>
          </a:bodyPr>
          <a:lstStyle/>
          <a:p>
            <a:pPr algn="l" marL="675778" indent="-337889" lvl="1">
              <a:lnSpc>
                <a:spcPts val="4382"/>
              </a:lnSpc>
              <a:buFont typeface="Arial"/>
              <a:buChar char="•"/>
            </a:pPr>
            <a:r>
              <a:rPr lang="en-US" sz="3130" i="true">
                <a:solidFill>
                  <a:srgbClr val="FFFFFF"/>
                </a:solidFill>
                <a:latin typeface="HK Grotesk Italics"/>
                <a:ea typeface="HK Grotesk Italics"/>
                <a:cs typeface="HK Grotesk Italics"/>
                <a:sym typeface="HK Grotesk Italics"/>
              </a:rPr>
              <a:t>Parameters:(p=1, d=1, q=1), Seasonal Order: (1,1,1,30)</a:t>
            </a:r>
          </a:p>
          <a:p>
            <a:pPr algn="l" marL="675778" indent="-337889" lvl="1">
              <a:lnSpc>
                <a:spcPts val="4382"/>
              </a:lnSpc>
              <a:buFont typeface="Arial"/>
              <a:buChar char="•"/>
            </a:pPr>
            <a:r>
              <a:rPr lang="en-US" sz="3130" i="true">
                <a:solidFill>
                  <a:srgbClr val="FFFFFF"/>
                </a:solidFill>
                <a:latin typeface="HK Grotesk Italics"/>
                <a:ea typeface="HK Grotesk Italics"/>
                <a:cs typeface="HK Grotesk Italics"/>
                <a:sym typeface="HK Grotesk Italics"/>
              </a:rPr>
              <a:t>Explanatory Variables:Wind speed, humidity, precipitation, pressure</a:t>
            </a:r>
          </a:p>
          <a:p>
            <a:pPr algn="l" marL="675778" indent="-337889" lvl="1">
              <a:lnSpc>
                <a:spcPts val="4382"/>
              </a:lnSpc>
              <a:buFont typeface="Arial"/>
              <a:buChar char="•"/>
            </a:pPr>
            <a:r>
              <a:rPr lang="en-US" sz="3130" i="true">
                <a:solidFill>
                  <a:srgbClr val="FFFFFF"/>
                </a:solidFill>
                <a:latin typeface="HK Grotesk Italics"/>
                <a:ea typeface="HK Grotesk Italics"/>
                <a:cs typeface="HK Grotesk Italics"/>
                <a:sym typeface="HK Grotesk Italics"/>
              </a:rPr>
              <a:t>Results:Forecasted temperature trends</a:t>
            </a:r>
          </a:p>
          <a:p>
            <a:pPr algn="l" marL="675778" indent="-337889" lvl="1">
              <a:lnSpc>
                <a:spcPts val="4382"/>
              </a:lnSpc>
              <a:buFont typeface="Arial"/>
              <a:buChar char="•"/>
            </a:pPr>
            <a:r>
              <a:rPr lang="en-US" sz="3130" i="true">
                <a:solidFill>
                  <a:srgbClr val="FFFFFF"/>
                </a:solidFill>
                <a:latin typeface="HK Grotesk Italics"/>
                <a:ea typeface="HK Grotesk Italics"/>
                <a:cs typeface="HK Grotesk Italics"/>
                <a:sym typeface="HK Grotesk Italics"/>
              </a:rPr>
              <a:t>Visualized train vs. test vs. forecast</a:t>
            </a:r>
          </a:p>
          <a:p>
            <a:pPr algn="l">
              <a:lnSpc>
                <a:spcPts val="4382"/>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sp>
        <p:nvSpPr>
          <p:cNvPr name="TextBox 3" id="3"/>
          <p:cNvSpPr txBox="true"/>
          <p:nvPr/>
        </p:nvSpPr>
        <p:spPr>
          <a:xfrm rot="0">
            <a:off x="1028700" y="3316599"/>
            <a:ext cx="15737284" cy="2293083"/>
          </a:xfrm>
          <a:prstGeom prst="rect">
            <a:avLst/>
          </a:prstGeom>
        </p:spPr>
        <p:txBody>
          <a:bodyPr anchor="t" rtlCol="false" tIns="0" lIns="0" bIns="0" rIns="0">
            <a:spAutoFit/>
          </a:bodyPr>
          <a:lstStyle/>
          <a:p>
            <a:pPr algn="l" marL="1736243" indent="-578748" lvl="2">
              <a:lnSpc>
                <a:spcPts val="4543"/>
              </a:lnSpc>
              <a:spcBef>
                <a:spcPct val="0"/>
              </a:spcBef>
              <a:buFont typeface="Arial"/>
              <a:buChar char="⚬"/>
            </a:pPr>
            <a:r>
              <a:rPr lang="en-US" sz="4020" i="true">
                <a:solidFill>
                  <a:srgbClr val="FFFFFF"/>
                </a:solidFill>
                <a:latin typeface="HK Grotesk Italics"/>
                <a:ea typeface="HK Grotesk Italics"/>
                <a:cs typeface="HK Grotesk Italics"/>
                <a:sym typeface="HK Grotesk Italics"/>
              </a:rPr>
              <a:t>Metrics:MAE (Mean Absolute Error):  3.02</a:t>
            </a:r>
          </a:p>
          <a:p>
            <a:pPr algn="l" marL="1736243" indent="-578748" lvl="2">
              <a:lnSpc>
                <a:spcPts val="4543"/>
              </a:lnSpc>
              <a:spcBef>
                <a:spcPct val="0"/>
              </a:spcBef>
              <a:buFont typeface="Arial"/>
              <a:buChar char="⚬"/>
            </a:pPr>
            <a:r>
              <a:rPr lang="en-US" sz="4020" i="true">
                <a:solidFill>
                  <a:srgbClr val="FFFFFF"/>
                </a:solidFill>
                <a:latin typeface="HK Grotesk Italics"/>
                <a:ea typeface="HK Grotesk Italics"/>
                <a:cs typeface="HK Grotesk Italics"/>
                <a:sym typeface="HK Grotesk Italics"/>
              </a:rPr>
              <a:t>RMSE (Root Mean Squared Error): 12.38</a:t>
            </a:r>
          </a:p>
          <a:p>
            <a:pPr algn="l" marL="1736243" indent="-578748" lvl="2">
              <a:lnSpc>
                <a:spcPts val="4543"/>
              </a:lnSpc>
              <a:spcBef>
                <a:spcPct val="0"/>
              </a:spcBef>
              <a:buFont typeface="Arial"/>
              <a:buChar char="⚬"/>
            </a:pPr>
            <a:r>
              <a:rPr lang="en-US" sz="4020" i="true">
                <a:solidFill>
                  <a:srgbClr val="FFFFFF"/>
                </a:solidFill>
                <a:latin typeface="HK Grotesk Italics"/>
                <a:ea typeface="HK Grotesk Italics"/>
                <a:cs typeface="HK Grotesk Italics"/>
                <a:sym typeface="HK Grotesk Italics"/>
              </a:rPr>
              <a:t>Observations:SARIMA performed well but had some deviations</a:t>
            </a:r>
          </a:p>
          <a:p>
            <a:pPr algn="l">
              <a:lnSpc>
                <a:spcPts val="4543"/>
              </a:lnSpc>
              <a:spcBef>
                <a:spcPct val="0"/>
              </a:spcBef>
            </a:pPr>
          </a:p>
        </p:txBody>
      </p:sp>
      <p:sp>
        <p:nvSpPr>
          <p:cNvPr name="TextBox 4" id="4"/>
          <p:cNvSpPr txBox="true"/>
          <p:nvPr/>
        </p:nvSpPr>
        <p:spPr>
          <a:xfrm rot="0">
            <a:off x="2272121" y="1066800"/>
            <a:ext cx="12220770" cy="1044340"/>
          </a:xfrm>
          <a:prstGeom prst="rect">
            <a:avLst/>
          </a:prstGeom>
        </p:spPr>
        <p:txBody>
          <a:bodyPr anchor="t" rtlCol="false" tIns="0" lIns="0" bIns="0" rIns="0">
            <a:spAutoFit/>
          </a:bodyPr>
          <a:lstStyle/>
          <a:p>
            <a:pPr algn="ctr">
              <a:lnSpc>
                <a:spcPts val="8039"/>
              </a:lnSpc>
              <a:spcBef>
                <a:spcPct val="0"/>
              </a:spcBef>
            </a:pPr>
            <a:r>
              <a:rPr lang="en-US" b="true" sz="7114">
                <a:solidFill>
                  <a:srgbClr val="FFFFFF"/>
                </a:solidFill>
                <a:latin typeface="Glacial Indifference Bold"/>
                <a:ea typeface="Glacial Indifference Bold"/>
                <a:cs typeface="Glacial Indifference Bold"/>
                <a:sym typeface="Glacial Indifference Bold"/>
              </a:rPr>
              <a:t>SARIMA M</a:t>
            </a:r>
            <a:r>
              <a:rPr lang="en-US" b="true" sz="7114">
                <a:solidFill>
                  <a:srgbClr val="FFFFFF"/>
                </a:solidFill>
                <a:latin typeface="Glacial Indifference Bold"/>
                <a:ea typeface="Glacial Indifference Bold"/>
                <a:cs typeface="Glacial Indifference Bold"/>
                <a:sym typeface="Glacial Indifference Bold"/>
              </a:rPr>
              <a:t>ODEL EVALUATION</a:t>
            </a:r>
          </a:p>
        </p:txBody>
      </p:sp>
      <p:sp>
        <p:nvSpPr>
          <p:cNvPr name="TextBox 5" id="5"/>
          <p:cNvSpPr txBox="true"/>
          <p:nvPr/>
        </p:nvSpPr>
        <p:spPr>
          <a:xfrm rot="0">
            <a:off x="1275358" y="8707583"/>
            <a:ext cx="15737284" cy="1120484"/>
          </a:xfrm>
          <a:prstGeom prst="rect">
            <a:avLst/>
          </a:prstGeom>
        </p:spPr>
        <p:txBody>
          <a:bodyPr anchor="t" rtlCol="false" tIns="0" lIns="0" bIns="0" rIns="0">
            <a:spAutoFit/>
          </a:bodyPr>
          <a:lstStyle/>
          <a:p>
            <a:pPr algn="ctr">
              <a:lnSpc>
                <a:spcPts val="4423"/>
              </a:lnSpc>
              <a:spcBef>
                <a:spcPct val="0"/>
              </a:spcBef>
            </a:pPr>
            <a:r>
              <a:rPr lang="en-US" b="true" sz="3914">
                <a:solidFill>
                  <a:srgbClr val="FFFFFF"/>
                </a:solidFill>
                <a:latin typeface="HK Grotesk Bold"/>
                <a:ea typeface="HK Grotesk Bold"/>
                <a:cs typeface="HK Grotesk Bold"/>
                <a:sym typeface="HK Grotesk Bold"/>
              </a:rPr>
              <a:t>Pr</a:t>
            </a:r>
            <a:r>
              <a:rPr lang="en-US" b="true" sz="3914">
                <a:solidFill>
                  <a:srgbClr val="FFFFFF"/>
                </a:solidFill>
                <a:latin typeface="HK Grotesk Bold"/>
                <a:ea typeface="HK Grotesk Bold"/>
                <a:cs typeface="HK Grotesk Bold"/>
                <a:sym typeface="HK Grotesk Bold"/>
              </a:rPr>
              <a:t>ophet was chosen for its ability to capture seasonality and trends without requiring extensive parameter tuning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sp>
        <p:nvSpPr>
          <p:cNvPr name="TextBox 3" id="3"/>
          <p:cNvSpPr txBox="true"/>
          <p:nvPr/>
        </p:nvSpPr>
        <p:spPr>
          <a:xfrm rot="0">
            <a:off x="1533443" y="1969336"/>
            <a:ext cx="13844984" cy="7774155"/>
          </a:xfrm>
          <a:prstGeom prst="rect">
            <a:avLst/>
          </a:prstGeom>
        </p:spPr>
        <p:txBody>
          <a:bodyPr anchor="t" rtlCol="false" tIns="0" lIns="0" bIns="0" rIns="0">
            <a:spAutoFit/>
          </a:bodyPr>
          <a:lstStyle/>
          <a:p>
            <a:pPr algn="l" marL="732353" indent="-366177" lvl="1">
              <a:lnSpc>
                <a:spcPts val="3833"/>
              </a:lnSpc>
              <a:spcBef>
                <a:spcPct val="0"/>
              </a:spcBef>
              <a:buFont typeface="Arial"/>
              <a:buChar char="•"/>
            </a:pPr>
            <a:r>
              <a:rPr lang="en-US" sz="3392">
                <a:solidFill>
                  <a:srgbClr val="FFFFFF"/>
                </a:solidFill>
                <a:latin typeface="HK Grotesk"/>
                <a:ea typeface="HK Grotesk"/>
                <a:cs typeface="HK Grotesk"/>
                <a:sym typeface="HK Grotesk"/>
              </a:rPr>
              <a:t>Converted Data to Prophet format (ds, y)</a:t>
            </a:r>
          </a:p>
          <a:p>
            <a:pPr algn="l" marL="732353" indent="-366177" lvl="1">
              <a:lnSpc>
                <a:spcPts val="3833"/>
              </a:lnSpc>
              <a:spcBef>
                <a:spcPct val="0"/>
              </a:spcBef>
              <a:buFont typeface="Arial"/>
              <a:buChar char="•"/>
            </a:pPr>
            <a:r>
              <a:rPr lang="en-US" sz="3392">
                <a:solidFill>
                  <a:srgbClr val="FFFFFF"/>
                </a:solidFill>
                <a:latin typeface="HK Grotesk"/>
                <a:ea typeface="HK Grotesk"/>
                <a:cs typeface="HK Grotesk"/>
                <a:sym typeface="HK Grotesk"/>
              </a:rPr>
              <a:t>Generated 30-day future forecast</a:t>
            </a:r>
          </a:p>
          <a:p>
            <a:pPr algn="l" marL="732353" indent="-366177" lvl="1">
              <a:lnSpc>
                <a:spcPts val="3833"/>
              </a:lnSpc>
              <a:spcBef>
                <a:spcPct val="0"/>
              </a:spcBef>
              <a:buFont typeface="Arial"/>
              <a:buChar char="•"/>
            </a:pPr>
            <a:r>
              <a:rPr lang="en-US" sz="3392">
                <a:solidFill>
                  <a:srgbClr val="FFFFFF"/>
                </a:solidFill>
                <a:latin typeface="HK Grotesk"/>
                <a:ea typeface="HK Grotesk"/>
                <a:cs typeface="HK Grotesk"/>
                <a:sym typeface="HK Grotesk"/>
              </a:rPr>
              <a:t>Results Saved: weather_forecast.csv</a:t>
            </a:r>
          </a:p>
          <a:p>
            <a:pPr algn="l">
              <a:lnSpc>
                <a:spcPts val="3833"/>
              </a:lnSpc>
              <a:spcBef>
                <a:spcPct val="0"/>
              </a:spcBef>
            </a:pPr>
          </a:p>
          <a:p>
            <a:pPr algn="l">
              <a:lnSpc>
                <a:spcPts val="3833"/>
              </a:lnSpc>
              <a:spcBef>
                <a:spcPct val="0"/>
              </a:spcBef>
            </a:pPr>
            <a:r>
              <a:rPr lang="en-US" sz="3392">
                <a:solidFill>
                  <a:srgbClr val="FFFFFF"/>
                </a:solidFill>
                <a:latin typeface="HK Grotesk"/>
                <a:ea typeface="HK Grotesk"/>
                <a:cs typeface="HK Grotesk"/>
                <a:sym typeface="HK Grotesk"/>
              </a:rPr>
              <a:t>Prophet Model Visualization</a:t>
            </a:r>
          </a:p>
          <a:p>
            <a:pPr algn="l" marL="732353" indent="-366177" lvl="1">
              <a:lnSpc>
                <a:spcPts val="3833"/>
              </a:lnSpc>
              <a:spcBef>
                <a:spcPct val="0"/>
              </a:spcBef>
              <a:buFont typeface="Arial"/>
              <a:buChar char="•"/>
            </a:pPr>
            <a:r>
              <a:rPr lang="en-US" sz="3392">
                <a:solidFill>
                  <a:srgbClr val="FFFFFF"/>
                </a:solidFill>
                <a:latin typeface="HK Grotesk"/>
                <a:ea typeface="HK Grotesk"/>
                <a:cs typeface="HK Grotesk"/>
                <a:sym typeface="HK Grotesk"/>
              </a:rPr>
              <a:t>Actual vs Forecasted Temperature Plot</a:t>
            </a:r>
          </a:p>
          <a:p>
            <a:pPr algn="l" marL="1464706" indent="-488235" lvl="2">
              <a:lnSpc>
                <a:spcPts val="3833"/>
              </a:lnSpc>
              <a:spcBef>
                <a:spcPct val="0"/>
              </a:spcBef>
              <a:buFont typeface="Arial"/>
              <a:buChar char="⚬"/>
            </a:pPr>
            <a:r>
              <a:rPr lang="en-US" sz="3392">
                <a:solidFill>
                  <a:srgbClr val="FFFFFF"/>
                </a:solidFill>
                <a:latin typeface="HK Grotesk"/>
                <a:ea typeface="HK Grotesk"/>
                <a:cs typeface="HK Grotesk"/>
                <a:sym typeface="HK Grotesk"/>
              </a:rPr>
              <a:t>Trends &amp; Seasonality:Captured yearly, weekly, and daily variations</a:t>
            </a:r>
          </a:p>
          <a:p>
            <a:pPr algn="l" marL="732353" indent="-366177" lvl="1">
              <a:lnSpc>
                <a:spcPts val="3833"/>
              </a:lnSpc>
              <a:spcBef>
                <a:spcPct val="0"/>
              </a:spcBef>
              <a:buFont typeface="Arial"/>
              <a:buChar char="•"/>
            </a:pPr>
            <a:r>
              <a:rPr lang="en-US" sz="3392">
                <a:solidFill>
                  <a:srgbClr val="FFFFFF"/>
                </a:solidFill>
                <a:latin typeface="HK Grotesk"/>
                <a:ea typeface="HK Grotesk"/>
                <a:cs typeface="HK Grotesk"/>
                <a:sym typeface="HK Grotesk"/>
              </a:rPr>
              <a:t>Confidence Intervals Displayed</a:t>
            </a:r>
          </a:p>
          <a:p>
            <a:pPr algn="l">
              <a:lnSpc>
                <a:spcPts val="3833"/>
              </a:lnSpc>
              <a:spcBef>
                <a:spcPct val="0"/>
              </a:spcBef>
            </a:pPr>
          </a:p>
          <a:p>
            <a:pPr algn="l">
              <a:lnSpc>
                <a:spcPts val="3833"/>
              </a:lnSpc>
              <a:spcBef>
                <a:spcPct val="0"/>
              </a:spcBef>
            </a:pPr>
            <a:r>
              <a:rPr lang="en-US" sz="3392">
                <a:solidFill>
                  <a:srgbClr val="FFFFFF"/>
                </a:solidFill>
                <a:latin typeface="HK Grotesk"/>
                <a:ea typeface="HK Grotesk"/>
                <a:cs typeface="HK Grotesk"/>
                <a:sym typeface="HK Grotesk"/>
              </a:rPr>
              <a:t>Model Evaluation:</a:t>
            </a:r>
          </a:p>
          <a:p>
            <a:pPr algn="l" marL="1464706" indent="-488235" lvl="2">
              <a:lnSpc>
                <a:spcPts val="3833"/>
              </a:lnSpc>
              <a:spcBef>
                <a:spcPct val="0"/>
              </a:spcBef>
              <a:buFont typeface="Arial"/>
              <a:buChar char="⚬"/>
            </a:pPr>
            <a:r>
              <a:rPr lang="en-US" sz="3392">
                <a:solidFill>
                  <a:srgbClr val="FFFFFF"/>
                </a:solidFill>
                <a:latin typeface="HK Grotesk"/>
                <a:ea typeface="HK Grotesk"/>
                <a:cs typeface="HK Grotesk"/>
                <a:sym typeface="HK Grotesk"/>
              </a:rPr>
              <a:t>Metrics:MAE (Mean Absolute Error): 2.114</a:t>
            </a:r>
          </a:p>
          <a:p>
            <a:pPr algn="l" marL="1464706" indent="-488235" lvl="2">
              <a:lnSpc>
                <a:spcPts val="3833"/>
              </a:lnSpc>
              <a:spcBef>
                <a:spcPct val="0"/>
              </a:spcBef>
              <a:buFont typeface="Arial"/>
              <a:buChar char="⚬"/>
            </a:pPr>
            <a:r>
              <a:rPr lang="en-US" sz="3392">
                <a:solidFill>
                  <a:srgbClr val="FFFFFF"/>
                </a:solidFill>
                <a:latin typeface="HK Grotesk"/>
                <a:ea typeface="HK Grotesk"/>
                <a:cs typeface="HK Grotesk"/>
                <a:sym typeface="HK Grotesk"/>
              </a:rPr>
              <a:t>RMSE (Root Mean Squared Error): 2.7</a:t>
            </a:r>
          </a:p>
          <a:p>
            <a:pPr algn="l">
              <a:lnSpc>
                <a:spcPts val="3833"/>
              </a:lnSpc>
              <a:spcBef>
                <a:spcPct val="0"/>
              </a:spcBef>
            </a:pPr>
          </a:p>
          <a:p>
            <a:pPr algn="l">
              <a:lnSpc>
                <a:spcPts val="3833"/>
              </a:lnSpc>
              <a:spcBef>
                <a:spcPct val="0"/>
              </a:spcBef>
            </a:pPr>
            <a:r>
              <a:rPr lang="en-US" sz="3392">
                <a:solidFill>
                  <a:srgbClr val="FFFFFF"/>
                </a:solidFill>
                <a:latin typeface="HK Grotesk"/>
                <a:ea typeface="HK Grotesk"/>
                <a:cs typeface="HK Grotesk"/>
                <a:sym typeface="HK Grotesk"/>
              </a:rPr>
              <a:t>Comp</a:t>
            </a:r>
            <a:r>
              <a:rPr lang="en-US" sz="3392">
                <a:solidFill>
                  <a:srgbClr val="FFFFFF"/>
                </a:solidFill>
                <a:latin typeface="HK Grotesk"/>
                <a:ea typeface="HK Grotesk"/>
                <a:cs typeface="HK Grotesk"/>
                <a:sym typeface="HK Grotesk"/>
              </a:rPr>
              <a:t>arison with SARIMA:</a:t>
            </a:r>
          </a:p>
          <a:p>
            <a:pPr algn="l" marL="1464706" indent="-488235" lvl="2">
              <a:lnSpc>
                <a:spcPts val="3833"/>
              </a:lnSpc>
              <a:spcBef>
                <a:spcPct val="0"/>
              </a:spcBef>
              <a:buFont typeface="Arial"/>
              <a:buChar char="⚬"/>
            </a:pPr>
            <a:r>
              <a:rPr lang="en-US" sz="3392">
                <a:solidFill>
                  <a:srgbClr val="FFFFFF"/>
                </a:solidFill>
                <a:latin typeface="HK Grotesk"/>
                <a:ea typeface="HK Grotesk"/>
                <a:cs typeface="HK Grotesk"/>
                <a:sym typeface="HK Grotesk"/>
              </a:rPr>
              <a:t>Prophet captures long-term trends better</a:t>
            </a:r>
          </a:p>
          <a:p>
            <a:pPr algn="l" marL="1464706" indent="-488235" lvl="2">
              <a:lnSpc>
                <a:spcPts val="3833"/>
              </a:lnSpc>
              <a:spcBef>
                <a:spcPct val="0"/>
              </a:spcBef>
              <a:buFont typeface="Arial"/>
              <a:buChar char="⚬"/>
            </a:pPr>
            <a:r>
              <a:rPr lang="en-US" sz="3392">
                <a:solidFill>
                  <a:srgbClr val="FFFFFF"/>
                </a:solidFill>
                <a:latin typeface="HK Grotesk"/>
                <a:ea typeface="HK Grotesk"/>
                <a:cs typeface="HK Grotesk"/>
                <a:sym typeface="HK Grotesk"/>
              </a:rPr>
              <a:t>SARIMA adapts well to short-term fluctuations</a:t>
            </a:r>
          </a:p>
        </p:txBody>
      </p:sp>
      <p:sp>
        <p:nvSpPr>
          <p:cNvPr name="TextBox 4" id="4"/>
          <p:cNvSpPr txBox="true"/>
          <p:nvPr/>
        </p:nvSpPr>
        <p:spPr>
          <a:xfrm rot="0">
            <a:off x="731248" y="246043"/>
            <a:ext cx="15958685" cy="1044340"/>
          </a:xfrm>
          <a:prstGeom prst="rect">
            <a:avLst/>
          </a:prstGeom>
        </p:spPr>
        <p:txBody>
          <a:bodyPr anchor="t" rtlCol="false" tIns="0" lIns="0" bIns="0" rIns="0">
            <a:spAutoFit/>
          </a:bodyPr>
          <a:lstStyle/>
          <a:p>
            <a:pPr algn="ctr">
              <a:lnSpc>
                <a:spcPts val="8039"/>
              </a:lnSpc>
              <a:spcBef>
                <a:spcPct val="0"/>
              </a:spcBef>
            </a:pPr>
            <a:r>
              <a:rPr lang="en-US" b="true" sz="7114">
                <a:solidFill>
                  <a:srgbClr val="FFFFFF"/>
                </a:solidFill>
                <a:latin typeface="Glacial Indifference Bold"/>
                <a:ea typeface="Glacial Indifference Bold"/>
                <a:cs typeface="Glacial Indifference Bold"/>
                <a:sym typeface="Glacial Indifference Bold"/>
              </a:rPr>
              <a:t>P</a:t>
            </a:r>
            <a:r>
              <a:rPr lang="en-US" b="true" sz="7114">
                <a:solidFill>
                  <a:srgbClr val="FFFFFF"/>
                </a:solidFill>
                <a:latin typeface="Glacial Indifference Bold"/>
                <a:ea typeface="Glacial Indifference Bold"/>
                <a:cs typeface="Glacial Indifference Bold"/>
                <a:sym typeface="Glacial Indifference Bold"/>
              </a:rPr>
              <a:t>ROPHET MODEL FOR FORECASTING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sp>
        <p:nvSpPr>
          <p:cNvPr name="Freeform 3" id="3"/>
          <p:cNvSpPr/>
          <p:nvPr/>
        </p:nvSpPr>
        <p:spPr>
          <a:xfrm flipH="false" flipV="false" rot="0">
            <a:off x="-295855" y="-436894"/>
            <a:ext cx="18879711" cy="10723894"/>
          </a:xfrm>
          <a:custGeom>
            <a:avLst/>
            <a:gdLst/>
            <a:ahLst/>
            <a:cxnLst/>
            <a:rect r="r" b="b" t="t" l="l"/>
            <a:pathLst>
              <a:path h="10723894" w="18879711">
                <a:moveTo>
                  <a:pt x="0" y="0"/>
                </a:moveTo>
                <a:lnTo>
                  <a:pt x="18879710" y="0"/>
                </a:lnTo>
                <a:lnTo>
                  <a:pt x="18879710" y="10723894"/>
                </a:lnTo>
                <a:lnTo>
                  <a:pt x="0" y="10723894"/>
                </a:lnTo>
                <a:lnTo>
                  <a:pt x="0" y="0"/>
                </a:lnTo>
                <a:close/>
              </a:path>
            </a:pathLst>
          </a:custGeom>
          <a:blipFill>
            <a:blip r:embed="rId3"/>
            <a:stretch>
              <a:fillRect l="-6801" t="0" r="-6801"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sp>
        <p:nvSpPr>
          <p:cNvPr name="TextBox 3" id="3"/>
          <p:cNvSpPr txBox="true"/>
          <p:nvPr/>
        </p:nvSpPr>
        <p:spPr>
          <a:xfrm rot="0">
            <a:off x="583779" y="1741188"/>
            <a:ext cx="17259300" cy="7782910"/>
          </a:xfrm>
          <a:prstGeom prst="rect">
            <a:avLst/>
          </a:prstGeom>
        </p:spPr>
        <p:txBody>
          <a:bodyPr anchor="t" rtlCol="false" tIns="0" lIns="0" bIns="0" rIns="0">
            <a:spAutoFit/>
          </a:bodyPr>
          <a:lstStyle/>
          <a:p>
            <a:pPr algn="just">
              <a:lnSpc>
                <a:spcPts val="6218"/>
              </a:lnSpc>
            </a:pPr>
            <a:r>
              <a:rPr lang="en-US" sz="4441">
                <a:solidFill>
                  <a:srgbClr val="FFFFFF"/>
                </a:solidFill>
                <a:latin typeface="Glacial Indifference"/>
                <a:ea typeface="Glacial Indifference"/>
                <a:cs typeface="Glacial Indifference"/>
                <a:sym typeface="Glacial Indifference"/>
              </a:rPr>
              <a:t>             Thi</a:t>
            </a:r>
            <a:r>
              <a:rPr lang="en-US" sz="4441">
                <a:solidFill>
                  <a:srgbClr val="FFFFFF"/>
                </a:solidFill>
                <a:latin typeface="Glacial Indifference"/>
                <a:ea typeface="Glacial Indifference"/>
                <a:cs typeface="Glacial Indifference"/>
                <a:sym typeface="Glacial Indifference"/>
              </a:rPr>
              <a:t>s project demonstrated the power of data science in understanding and predicting weather patterns by leveraging historical meteorological data. Through comprehensive preprocessing, exploratory analysis, and time series modeling using SARIMA and Prophet, the study successfully forecasted temperature trends. The SARIMA model performed well in capturing short-term fluctuations, while Prophet proved more effective in modeling long-term seasonal variations. The insights gained from this analysis underline the critical role weather forecasting plays in supporting decision-making in sectors such as agriculture, energy, and disaster preparedness.</a:t>
            </a:r>
          </a:p>
        </p:txBody>
      </p:sp>
      <p:sp>
        <p:nvSpPr>
          <p:cNvPr name="TextBox 4" id="4"/>
          <p:cNvSpPr txBox="true"/>
          <p:nvPr/>
        </p:nvSpPr>
        <p:spPr>
          <a:xfrm rot="0">
            <a:off x="555204" y="350560"/>
            <a:ext cx="16552672" cy="1044340"/>
          </a:xfrm>
          <a:prstGeom prst="rect">
            <a:avLst/>
          </a:prstGeom>
        </p:spPr>
        <p:txBody>
          <a:bodyPr anchor="t" rtlCol="false" tIns="0" lIns="0" bIns="0" rIns="0">
            <a:spAutoFit/>
          </a:bodyPr>
          <a:lstStyle/>
          <a:p>
            <a:pPr algn="ctr">
              <a:lnSpc>
                <a:spcPts val="8039"/>
              </a:lnSpc>
              <a:spcBef>
                <a:spcPct val="0"/>
              </a:spcBef>
            </a:pPr>
            <a:r>
              <a:rPr lang="en-US" b="true" sz="7114">
                <a:solidFill>
                  <a:srgbClr val="FFFFFF"/>
                </a:solidFill>
                <a:latin typeface="Glacial Indifference Bold"/>
                <a:ea typeface="Glacial Indifference Bold"/>
                <a:cs typeface="Glacial Indifference Bold"/>
                <a:sym typeface="Glacial Indifference Bold"/>
              </a:rPr>
              <a:t> </a:t>
            </a:r>
            <a:r>
              <a:rPr lang="en-US" b="true" sz="7114">
                <a:solidFill>
                  <a:srgbClr val="FFFFFF"/>
                </a:solidFill>
                <a:latin typeface="Glacial Indifference Bold"/>
                <a:ea typeface="Glacial Indifference Bold"/>
                <a:cs typeface="Glacial Indifference Bold"/>
                <a:sym typeface="Glacial Indifference Bold"/>
              </a:rPr>
              <a:t>C</a:t>
            </a:r>
            <a:r>
              <a:rPr lang="en-US" b="true" sz="7114">
                <a:solidFill>
                  <a:srgbClr val="FFFFFF"/>
                </a:solidFill>
                <a:latin typeface="Glacial Indifference Bold"/>
                <a:ea typeface="Glacial Indifference Bold"/>
                <a:cs typeface="Glacial Indifference Bold"/>
                <a:sym typeface="Glacial Indifference Bold"/>
              </a:rPr>
              <a:t>ONCLUSION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sp>
        <p:nvSpPr>
          <p:cNvPr name="TextBox 3" id="3"/>
          <p:cNvSpPr txBox="true"/>
          <p:nvPr/>
        </p:nvSpPr>
        <p:spPr>
          <a:xfrm rot="0">
            <a:off x="5729060" y="269320"/>
            <a:ext cx="6202968" cy="1044340"/>
          </a:xfrm>
          <a:prstGeom prst="rect">
            <a:avLst/>
          </a:prstGeom>
        </p:spPr>
        <p:txBody>
          <a:bodyPr anchor="t" rtlCol="false" tIns="0" lIns="0" bIns="0" rIns="0">
            <a:spAutoFit/>
          </a:bodyPr>
          <a:lstStyle/>
          <a:p>
            <a:pPr algn="ctr">
              <a:lnSpc>
                <a:spcPts val="8039"/>
              </a:lnSpc>
              <a:spcBef>
                <a:spcPct val="0"/>
              </a:spcBef>
            </a:pPr>
            <a:r>
              <a:rPr lang="en-US" b="true" sz="7114">
                <a:solidFill>
                  <a:srgbClr val="FFFFFF"/>
                </a:solidFill>
                <a:latin typeface="Glacial Indifference Bold"/>
                <a:ea typeface="Glacial Indifference Bold"/>
                <a:cs typeface="Glacial Indifference Bold"/>
                <a:sym typeface="Glacial Indifference Bold"/>
              </a:rPr>
              <a:t>FUTURE SCOPE</a:t>
            </a:r>
          </a:p>
        </p:txBody>
      </p:sp>
      <p:sp>
        <p:nvSpPr>
          <p:cNvPr name="TextBox 4" id="4"/>
          <p:cNvSpPr txBox="true"/>
          <p:nvPr/>
        </p:nvSpPr>
        <p:spPr>
          <a:xfrm rot="0">
            <a:off x="636974" y="1907660"/>
            <a:ext cx="16975953" cy="7719318"/>
          </a:xfrm>
          <a:prstGeom prst="rect">
            <a:avLst/>
          </a:prstGeom>
        </p:spPr>
        <p:txBody>
          <a:bodyPr anchor="t" rtlCol="false" tIns="0" lIns="0" bIns="0" rIns="0">
            <a:spAutoFit/>
          </a:bodyPr>
          <a:lstStyle/>
          <a:p>
            <a:pPr algn="just">
              <a:lnSpc>
                <a:spcPts val="5544"/>
              </a:lnSpc>
              <a:spcBef>
                <a:spcPct val="0"/>
              </a:spcBef>
            </a:pPr>
            <a:r>
              <a:rPr lang="en-US" sz="4906">
                <a:solidFill>
                  <a:srgbClr val="FFFFFF"/>
                </a:solidFill>
                <a:latin typeface="Glacial Indifference"/>
                <a:ea typeface="Glacial Indifference"/>
                <a:cs typeface="Glacial Indifference"/>
                <a:sym typeface="Glacial Indifference"/>
              </a:rPr>
              <a:t>         Moving forward, the scope of this project can be significantly expanded t</a:t>
            </a:r>
            <a:r>
              <a:rPr lang="en-US" sz="4906">
                <a:solidFill>
                  <a:srgbClr val="FFFFFF"/>
                </a:solidFill>
                <a:latin typeface="Glacial Indifference"/>
                <a:ea typeface="Glacial Indifference"/>
                <a:cs typeface="Glacial Indifference"/>
                <a:sym typeface="Glacial Indifference"/>
              </a:rPr>
              <a:t>o enhance its utility and accuracy. A promising direction is to scale the analysis across multiple countries and regions, capturing localized weather behavior and climate patterns. Incorporating additional meteorological parameters like solar radiation, dew point, and atmospheric pressure could further enrich the predictive capabilities of the models. Integrating satellite data, real-time feeds, and climate change indicators may also open avenues for building a robust and adaptive forecasting system that contributes meaningfully to sustainability efforts and risk mitigation planning.</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0" r="0" b="0"/>
            </a:stretch>
          </a:blipFill>
        </p:spPr>
      </p:sp>
      <p:sp>
        <p:nvSpPr>
          <p:cNvPr name="Freeform 3" id="3"/>
          <p:cNvSpPr/>
          <p:nvPr/>
        </p:nvSpPr>
        <p:spPr>
          <a:xfrm flipH="false" flipV="false" rot="0">
            <a:off x="4338336" y="-3273956"/>
            <a:ext cx="9611327" cy="13560956"/>
          </a:xfrm>
          <a:custGeom>
            <a:avLst/>
            <a:gdLst/>
            <a:ahLst/>
            <a:cxnLst/>
            <a:rect r="r" b="b" t="t" l="l"/>
            <a:pathLst>
              <a:path h="13560956" w="9611327">
                <a:moveTo>
                  <a:pt x="0" y="0"/>
                </a:moveTo>
                <a:lnTo>
                  <a:pt x="9611328" y="0"/>
                </a:lnTo>
                <a:lnTo>
                  <a:pt x="9611328" y="13560956"/>
                </a:lnTo>
                <a:lnTo>
                  <a:pt x="0" y="13560956"/>
                </a:lnTo>
                <a:lnTo>
                  <a:pt x="0" y="0"/>
                </a:lnTo>
                <a:close/>
              </a:path>
            </a:pathLst>
          </a:custGeom>
          <a:blipFill>
            <a:blip r:embed="rId3"/>
            <a:stretch>
              <a:fillRect l="0" t="0" r="0" b="0"/>
            </a:stretch>
          </a:blipFill>
        </p:spPr>
      </p:sp>
      <p:sp>
        <p:nvSpPr>
          <p:cNvPr name="TextBox 4" id="4"/>
          <p:cNvSpPr txBox="true"/>
          <p:nvPr/>
        </p:nvSpPr>
        <p:spPr>
          <a:xfrm rot="0">
            <a:off x="4651632" y="4171798"/>
            <a:ext cx="8984736" cy="1451033"/>
          </a:xfrm>
          <a:prstGeom prst="rect">
            <a:avLst/>
          </a:prstGeom>
        </p:spPr>
        <p:txBody>
          <a:bodyPr anchor="t" rtlCol="false" tIns="0" lIns="0" bIns="0" rIns="0">
            <a:spAutoFit/>
          </a:bodyPr>
          <a:lstStyle/>
          <a:p>
            <a:pPr algn="ctr">
              <a:lnSpc>
                <a:spcPts val="11307"/>
              </a:lnSpc>
            </a:pPr>
            <a:r>
              <a:rPr lang="en-US" b="true" sz="10006">
                <a:solidFill>
                  <a:srgbClr val="FFFFFF"/>
                </a:solidFill>
                <a:latin typeface="Glacial Indifference Bold"/>
                <a:ea typeface="Glacial Indifference Bold"/>
                <a:cs typeface="Glacial Indifference Bold"/>
                <a:sym typeface="Glacial Indifference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DAGiMYixTCU</dc:identifier>
  <dcterms:modified xsi:type="dcterms:W3CDTF">2011-08-01T06:04:30Z</dcterms:modified>
  <cp:revision>1</cp:revision>
  <dc:title>Weather Trend Forecasting</dc:title>
</cp:coreProperties>
</file>